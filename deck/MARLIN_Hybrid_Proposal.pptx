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6246ec5-047c-901f-3749-90ced810bbd8}">
          <p14:sldIdLst>
            <p14:sldId id="256"/>
            <p14:sldId id="257"/>
            <p14:sldId id="258"/>
          </p14:sldIdLst>
        </p14:section>
        <p14:section name="Solution" id="{8b375aa4-db4b-e38d-124e-16afc194470c}">
          <p14:sldIdLst>
            <p14:sldId id="259"/>
            <p14:sldId id="260"/>
            <p14:sldId id="261"/>
          </p14:sldIdLst>
        </p14:section>
        <p14:section name="Delivery" id="{9ca14cb8-bb59-df1e-526e-341743c8d5d6}">
          <p14:sldIdLst>
            <p14:sldId id="262"/>
            <p14:sldId id="263"/>
            <p14:sldId id="264"/>
          </p14:sldIdLst>
        </p14:section>
        <p14:section name="Close" id="{50910347-0d4e-ba30-64f5-fd42d849b3bb}">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(10 s): We are MARLIN. ENEC asked how to manage jellyfish blooms AFTER the early warning. Our answer layers two proven barriers, a bubble curtain and an angled floating boom, steered by control software that adapts to the bloom, with a manual crew as the last backup. One monitored collection point replaces repeated manual clearing.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(20 s): Problem, solution, proof. Gravelines lost four reactors in 2025 and three in 2026. Our two layers are each established technology, with a manual-catch Layer 3 behind them, and a published flume study already tested them together. Control software adjusts air and boom angle to the bloom and stops when nothing arrives. A manual crew and the existing screens are backups. Nothing touches plant or safety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(15 s): Once-through seawater cooling pulls huge volumes through an intake. A bloom blocks the screens faster than crews can clear them. This is real and regional: Oman and Kuwait have both been hit. ENEC's target species is large and dense, so the answer must handle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(25 s): Left to right. The bloom drifts with the current. The seabed bubble curtain lifts jellyfish to the surface layer. The angled floating boom, set across the current, guides them along its face to one collection point near shore. A small manual crew with dip nets is the third layer for the rare straggler. The intake and its existing screens are untouched and stay as the independent last line. Control software, shown at the bottom right, adjusts the curtain and boom to the bloom.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parts (25 s): Both layers are real products. Bubble curtains protect salmon farms in Chile, Tasmania, Scotland and Ireland, and some power-plant inlets. Debris booms are standard at power-station intakes and have published flume design guidance. We list each limit openly because our design works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(25 s): The key result is Lo 1996: in a flume, a bubble plume lifted jellyfish to the surface and they gathered at a floating boom where a pump could remove them. Lo 1991 showed bubbles alone fail. Field data from Tasmania and Scotland show curtains work at scale. We are honest that nobody has tested this on a dense 30 to 45 cm species at full scale, which is exactly what our simulation and flume plan do. The controller is our own design, with airflow and boom angle as the adjustable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software (25 s): ENEC's detection warns us. From that moment our software estimates how many jellyfish are arriving and from which direction, using a camera or sonar count plus current and wave sensors. It then sets the bubble air level and the boom angle, and stops everything when arrivals stop. Simple rules first; machine learning only once real data exist. Local interlocks and operators bound every action. It controls only our barrier, not the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Sustainability (20 s): We designed around each documented weakness. Waves hurt bubble curtains, so we use the breakwater-sheltered approach and the software stops air in rough seas. Fragments get past a curtain, so the skirt, the manual crew and the existing screens are further lines. Sensor counts can be wrong in turbid water, so defaults are conservative and operators can override. Marine-life protection is a pass or fail gate in every test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and test plan (20 s): Everything is standard marine hardware, and the software keeps air off unless jellyfish are arriving. We do not quote prices without supplier data. Gate one is a bench flume plus a controller simulation we can show at Demo Days. Our v5 screening simulation compares strategies under uncalibrated assumptions: roughly 50 to 65 percent less mass reaching the intake in calm seas and about 12 percent in a 2 metre storm. Those are not field claims; the flume will measure the real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(10 s): We are clear about what is evidence and what is assumption. Sources are listed so judges can check each claim. We would welcome a bounded technical review with ENEC to confirm site conditions, then calibrate the flume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64240" cy="7315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MARLIN  |  ATP 2026  |  ENEC Challenge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64240" cy="73152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3"/>
                </a:solidFill>
              </a:rPr>
              <a:t>MARLIN  |  ATP 2026  |  ENEC Challenge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685800"/>
            <a:ext cx="6400800" cy="274320"/>
          </a:xfrm>
          <a:prstGeom prst="rect">
            <a:avLst/>
          </a:prstGeom>
          <a:noFill/>
          <a:ln/>
        </p:spPr>
        <p:txBody>
          <a:bodyPr wrap="square" lIns="0" tIns="0" rIns="0" bIns="0" rtlCol="0" anchor="t"/>
          <a:lstStyle/>
          <a:p>
            <a:pPr indent="0" marL="0">
              <a:buNone/>
            </a:pPr>
            <a:r>
              <a:rPr lang="en-US" sz="1300" b="1" dirty="0">
                <a:solidFill>
                  <a:schemeClr val="accent3"/>
                </a:solidFill>
              </a:rPr>
              <a:t>ATP 2026  |  ENEC CHALLENGE</a:t>
            </a:r>
            <a:endParaRPr lang="en-US" sz="1300" dirty="0"/>
          </a:p>
        </p:txBody>
      </p:sp>
      <p:sp>
        <p:nvSpPr>
          <p:cNvPr id="3" name="Text 1"/>
          <p:cNvSpPr txBox="1"/>
          <p:nvPr/>
        </p:nvSpPr>
        <p:spPr>
          <a:xfrm>
            <a:off x="640080" y="1188720"/>
            <a:ext cx="6583680" cy="1097280"/>
          </a:xfrm>
          <a:prstGeom prst="rect">
            <a:avLst/>
          </a:prstGeom>
          <a:noFill/>
          <a:ln/>
        </p:spPr>
        <p:txBody>
          <a:bodyPr wrap="square" lIns="0" tIns="0" rIns="0" bIns="0" rtlCol="0" anchor="ctr"/>
          <a:lstStyle/>
          <a:p>
            <a:pPr indent="0" marL="0">
              <a:buNone/>
            </a:pPr>
            <a:r>
              <a:rPr lang="en-US" sz="7200" b="1" dirty="0">
                <a:solidFill>
                  <a:schemeClr val="bg1"/>
                </a:solidFill>
                <a:latin typeface="Cambria" pitchFamily="34" charset="0"/>
                <a:ea typeface="Cambria" pitchFamily="34" charset="-122"/>
                <a:cs typeface="Cambria" pitchFamily="34" charset="-120"/>
              </a:rPr>
              <a:t>MARLIN</a:t>
            </a:r>
            <a:endParaRPr lang="en-US" sz="7200" dirty="0"/>
          </a:p>
        </p:txBody>
      </p:sp>
      <p:sp>
        <p:nvSpPr>
          <p:cNvPr id="4" name="Text 2"/>
          <p:cNvSpPr txBox="1"/>
          <p:nvPr/>
        </p:nvSpPr>
        <p:spPr>
          <a:xfrm>
            <a:off x="640080" y="2331720"/>
            <a:ext cx="6583680" cy="640080"/>
          </a:xfrm>
          <a:prstGeom prst="rect">
            <a:avLst/>
          </a:prstGeom>
          <a:noFill/>
          <a:ln/>
        </p:spPr>
        <p:txBody>
          <a:bodyPr wrap="square" lIns="0" tIns="0" rIns="0" bIns="0" rtlCol="0" anchor="t"/>
          <a:lstStyle/>
          <a:p>
            <a:pPr indent="0" marL="0">
              <a:buNone/>
            </a:pPr>
            <a:r>
              <a:rPr lang="en-US" sz="1800" dirty="0">
                <a:solidFill>
                  <a:schemeClr val="accent3"/>
                </a:solidFill>
              </a:rPr>
              <a:t>Marine Adaptive Response and Lifecycle Intervention Network</a:t>
            </a:r>
            <a:endParaRPr lang="en-US" sz="1800" dirty="0"/>
          </a:p>
        </p:txBody>
      </p:sp>
      <p:sp>
        <p:nvSpPr>
          <p:cNvPr id="5" name="Text 3"/>
          <p:cNvSpPr txBox="1"/>
          <p:nvPr/>
        </p:nvSpPr>
        <p:spPr>
          <a:xfrm>
            <a:off x="640080" y="3246120"/>
            <a:ext cx="6492240" cy="13716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A layered, proven response to jellyfish blooms, with less manual work</a:t>
            </a:r>
            <a:endParaRPr lang="en-US" sz="2800" dirty="0"/>
          </a:p>
        </p:txBody>
      </p:sp>
      <p:sp>
        <p:nvSpPr>
          <p:cNvPr id="6" name="Text 4"/>
          <p:cNvSpPr txBox="1"/>
          <p:nvPr/>
        </p:nvSpPr>
        <p:spPr>
          <a:xfrm>
            <a:off x="640080" y="4754880"/>
            <a:ext cx="6492240" cy="640080"/>
          </a:xfrm>
          <a:prstGeom prst="rect">
            <a:avLst/>
          </a:prstGeom>
          <a:noFill/>
          <a:ln/>
        </p:spPr>
        <p:txBody>
          <a:bodyPr wrap="square" lIns="0" tIns="0" rIns="0" bIns="0" rtlCol="0" anchor="t"/>
          <a:lstStyle/>
          <a:p>
            <a:pPr indent="0" marL="0">
              <a:buNone/>
            </a:pPr>
            <a:r>
              <a:rPr lang="en-US" sz="1500" dirty="0">
                <a:solidFill>
                  <a:schemeClr val="bg2"/>
                </a:solidFill>
              </a:rPr>
              <a:t>Post-alert management of seasonal blooms: bubble curtain plus angled boom, adaptive control software and a manual-catch backup</a:t>
            </a:r>
            <a:endParaRPr lang="en-US" sz="1500" dirty="0"/>
          </a:p>
        </p:txBody>
      </p:sp>
      <p:sp>
        <p:nvSpPr>
          <p:cNvPr id="7" name="Text 5"/>
          <p:cNvSpPr txBox="1"/>
          <p:nvPr/>
        </p:nvSpPr>
        <p:spPr>
          <a:xfrm>
            <a:off x="640080" y="5989320"/>
            <a:ext cx="6949440" cy="457200"/>
          </a:xfrm>
          <a:prstGeom prst="rect">
            <a:avLst/>
          </a:prstGeom>
          <a:noFill/>
          <a:ln/>
        </p:spPr>
        <p:txBody>
          <a:bodyPr wrap="square" lIns="0" tIns="0" rIns="0" bIns="0" rtlCol="0" anchor="t"/>
          <a:lstStyle/>
          <a:p>
            <a:pPr indent="0" marL="0">
              <a:buNone/>
            </a:pPr>
            <a:r>
              <a:rPr lang="en-US" sz="1200" b="1" dirty="0">
                <a:solidFill>
                  <a:schemeClr val="accent3"/>
                </a:solidFill>
              </a:rPr>
              <a:t>TEAM   </a:t>
            </a:r>
            <a:pPr indent="0" marL="0">
              <a:buNone/>
            </a:pPr>
            <a:r>
              <a:rPr lang="en-US" sz="1200" dirty="0">
                <a:solidFill>
                  <a:schemeClr val="bg1"/>
                </a:solidFill>
              </a:rPr>
              <a:t>Bashger Aljneibi  |  Keyal Doshi  |  Abdul Fattah Mohammed  |  Abdul Bari Mohammed</a:t>
            </a:r>
            <a:endParaRPr lang="en-US" sz="1200" dirty="0"/>
          </a:p>
        </p:txBody>
      </p:sp>
      <p:pic>
        <p:nvPicPr>
          <p:cNvPr id="8" name="Image 0" descr="Seawater intake channel at a coastal nuclear plant">    </p:cNvPr>
          <p:cNvPicPr>
            <a:picLocks noChangeAspect="1"/>
          </p:cNvPicPr>
          <p:nvPr/>
        </p:nvPicPr>
        <p:blipFill>
          <a:blip r:embed="rId1"/>
          <a:stretch>
            <a:fillRect/>
          </a:stretch>
        </p:blipFill>
        <p:spPr>
          <a:xfrm>
            <a:off x="7589520" y="1143000"/>
            <a:ext cx="4023360" cy="2194560"/>
          </a:xfrm>
          <a:prstGeom prst="rect">
            <a:avLst/>
          </a:prstGeom>
        </p:spPr>
      </p:pic>
      <p:pic>
        <p:nvPicPr>
          <p:cNvPr id="9" name="Image 1" descr="Underwater bubble curtain">    </p:cNvPr>
          <p:cNvPicPr>
            <a:picLocks noChangeAspect="1"/>
          </p:cNvPicPr>
          <p:nvPr/>
        </p:nvPicPr>
        <p:blipFill>
          <a:blip r:embed="rId2"/>
          <a:stretch>
            <a:fillRect/>
          </a:stretch>
        </p:blipFill>
        <p:spPr>
          <a:xfrm>
            <a:off x="7589520" y="3520440"/>
            <a:ext cx="1920240" cy="2194560"/>
          </a:xfrm>
          <a:prstGeom prst="rect">
            <a:avLst/>
          </a:prstGeom>
        </p:spPr>
      </p:pic>
      <p:pic>
        <p:nvPicPr>
          <p:cNvPr id="10" name="Image 2" descr="Angled floating boom with skirt">    </p:cNvPr>
          <p:cNvPicPr>
            <a:picLocks noChangeAspect="1"/>
          </p:cNvPicPr>
          <p:nvPr/>
        </p:nvPicPr>
        <p:blipFill>
          <a:blip r:embed="rId3"/>
          <a:stretch>
            <a:fillRect/>
          </a:stretch>
        </p:blipFill>
        <p:spPr>
          <a:xfrm>
            <a:off x="9692640" y="3520440"/>
            <a:ext cx="192024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01  |  EXECUTIVE SUMMARY</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Two proven layers, adaptive control, a manual-catch Layer 3</a:t>
            </a:r>
            <a:endParaRPr lang="en-US" sz="2800" dirty="0"/>
          </a:p>
        </p:txBody>
      </p:sp>
      <p:sp>
        <p:nvSpPr>
          <p:cNvPr id="4" name="Shape 2"/>
          <p:cNvSpPr/>
          <p:nvPr/>
        </p:nvSpPr>
        <p:spPr>
          <a:xfrm>
            <a:off x="548640" y="1508760"/>
            <a:ext cx="3504895" cy="3520440"/>
          </a:xfrm>
          <a:prstGeom prst="roundRect">
            <a:avLst>
              <a:gd name="adj" fmla="val 2609"/>
            </a:avLst>
          </a:prstGeom>
          <a:solidFill>
            <a:schemeClr val="bg2"/>
          </a:solidFill>
          <a:ln/>
        </p:spPr>
      </p:sp>
      <p:sp>
        <p:nvSpPr>
          <p:cNvPr id="5" name="Shape 3"/>
          <p:cNvSpPr/>
          <p:nvPr/>
        </p:nvSpPr>
        <p:spPr>
          <a:xfrm>
            <a:off x="822960" y="1737360"/>
            <a:ext cx="457200" cy="457200"/>
          </a:xfrm>
          <a:prstGeom prst="ellipse">
            <a:avLst/>
          </a:prstGeom>
          <a:solidFill>
            <a:schemeClr val="accent1"/>
          </a:solidFill>
          <a:ln w="19050">
            <a:solidFill>
              <a:schemeClr val="bg1"/>
            </a:solidFill>
            <a:prstDash val="solid"/>
          </a:ln>
        </p:spPr>
      </p:sp>
      <p:sp>
        <p:nvSpPr>
          <p:cNvPr id="6" name="Text 4"/>
          <p:cNvSpPr txBox="1"/>
          <p:nvPr/>
        </p:nvSpPr>
        <p:spPr>
          <a:xfrm>
            <a:off x="822960"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463040" y="1737360"/>
            <a:ext cx="2407615" cy="457200"/>
          </a:xfrm>
          <a:prstGeom prst="rect">
            <a:avLst/>
          </a:prstGeom>
          <a:noFill/>
          <a:ln/>
        </p:spPr>
        <p:txBody>
          <a:bodyPr wrap="square" lIns="0" tIns="0" rIns="0" bIns="0" rtlCol="0" anchor="ctr"/>
          <a:lstStyle/>
          <a:p>
            <a:pPr indent="0" marL="0">
              <a:buNone/>
            </a:pPr>
            <a:r>
              <a:rPr lang="en-US" sz="2000" b="1" dirty="0">
                <a:solidFill>
                  <a:schemeClr val="accent1"/>
                </a:solidFill>
              </a:rPr>
              <a:t>The problem</a:t>
            </a:r>
            <a:endParaRPr lang="en-US" sz="2000" dirty="0"/>
          </a:p>
        </p:txBody>
      </p:sp>
      <p:sp>
        <p:nvSpPr>
          <p:cNvPr id="8" name="Text 6"/>
          <p:cNvSpPr txBox="1"/>
          <p:nvPr/>
        </p:nvSpPr>
        <p:spPr>
          <a:xfrm>
            <a:off x="822960" y="2423160"/>
            <a:ext cx="2956255" cy="2468880"/>
          </a:xfrm>
          <a:prstGeom prst="rect">
            <a:avLst/>
          </a:prstGeom>
          <a:noFill/>
          <a:ln/>
        </p:spPr>
        <p:txBody>
          <a:bodyPr wrap="square" lIns="0" tIns="0" rIns="0" bIns="0" rtlCol="0" anchor="t"/>
          <a:lstStyle/>
          <a:p>
            <a:pPr indent="0" marL="0">
              <a:buNone/>
            </a:pPr>
            <a:r>
              <a:rPr lang="en-US" sz="1700" dirty="0">
                <a:solidFill>
                  <a:schemeClr val="tx1"/>
                </a:solidFill>
              </a:rPr>
              <a:t>Bloom swarms clog cooling-water screens and can trip reactors. Gravelines lost four units in Aug 2025 and three in Aug 2026. After the warning, clearing is still manual, equipment-heavy and sustained.</a:t>
            </a:r>
            <a:endParaRPr lang="en-US" sz="1700" dirty="0"/>
          </a:p>
        </p:txBody>
      </p:sp>
      <p:sp>
        <p:nvSpPr>
          <p:cNvPr id="9" name="Shape 7"/>
          <p:cNvSpPr/>
          <p:nvPr/>
        </p:nvSpPr>
        <p:spPr>
          <a:xfrm>
            <a:off x="4327855" y="1508760"/>
            <a:ext cx="3504895" cy="3520440"/>
          </a:xfrm>
          <a:prstGeom prst="roundRect">
            <a:avLst>
              <a:gd name="adj" fmla="val 2609"/>
            </a:avLst>
          </a:prstGeom>
          <a:solidFill>
            <a:schemeClr val="bg2"/>
          </a:solidFill>
          <a:ln/>
        </p:spPr>
      </p:sp>
      <p:sp>
        <p:nvSpPr>
          <p:cNvPr id="10" name="Shape 8"/>
          <p:cNvSpPr/>
          <p:nvPr/>
        </p:nvSpPr>
        <p:spPr>
          <a:xfrm>
            <a:off x="4602175" y="1737360"/>
            <a:ext cx="457200" cy="457200"/>
          </a:xfrm>
          <a:prstGeom prst="ellipse">
            <a:avLst/>
          </a:prstGeom>
          <a:solidFill>
            <a:schemeClr val="accent1"/>
          </a:solidFill>
          <a:ln w="19050">
            <a:solidFill>
              <a:schemeClr val="bg1"/>
            </a:solidFill>
            <a:prstDash val="solid"/>
          </a:ln>
        </p:spPr>
      </p:sp>
      <p:sp>
        <p:nvSpPr>
          <p:cNvPr id="11" name="Text 9"/>
          <p:cNvSpPr txBox="1"/>
          <p:nvPr/>
        </p:nvSpPr>
        <p:spPr>
          <a:xfrm>
            <a:off x="4602175"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10"/>
          <p:cNvSpPr txBox="1"/>
          <p:nvPr/>
        </p:nvSpPr>
        <p:spPr>
          <a:xfrm>
            <a:off x="5242255" y="1737360"/>
            <a:ext cx="2407615" cy="457200"/>
          </a:xfrm>
          <a:prstGeom prst="rect">
            <a:avLst/>
          </a:prstGeom>
          <a:noFill/>
          <a:ln/>
        </p:spPr>
        <p:txBody>
          <a:bodyPr wrap="square" lIns="0" tIns="0" rIns="0" bIns="0" rtlCol="0" anchor="ctr"/>
          <a:lstStyle/>
          <a:p>
            <a:pPr indent="0" marL="0">
              <a:buNone/>
            </a:pPr>
            <a:r>
              <a:rPr lang="en-US" sz="2000" b="1" dirty="0">
                <a:solidFill>
                  <a:schemeClr val="accent1"/>
                </a:solidFill>
              </a:rPr>
              <a:t>The solution</a:t>
            </a:r>
            <a:endParaRPr lang="en-US" sz="2000" dirty="0"/>
          </a:p>
        </p:txBody>
      </p:sp>
      <p:sp>
        <p:nvSpPr>
          <p:cNvPr id="13" name="Text 11"/>
          <p:cNvSpPr txBox="1"/>
          <p:nvPr/>
        </p:nvSpPr>
        <p:spPr>
          <a:xfrm>
            <a:off x="4602175" y="2423160"/>
            <a:ext cx="2956255" cy="2468880"/>
          </a:xfrm>
          <a:prstGeom prst="rect">
            <a:avLst/>
          </a:prstGeom>
          <a:noFill/>
          <a:ln/>
        </p:spPr>
        <p:txBody>
          <a:bodyPr wrap="square" lIns="0" tIns="0" rIns="0" bIns="0" rtlCol="0" anchor="t"/>
          <a:lstStyle/>
          <a:p>
            <a:pPr indent="0" marL="0">
              <a:buNone/>
            </a:pPr>
            <a:r>
              <a:rPr lang="en-US" sz="1700" dirty="0">
                <a:solidFill>
                  <a:schemeClr val="tx1"/>
                </a:solidFill>
              </a:rPr>
              <a:t>A seabed bubble curtain lifts drifting jellyfish to the surface and an angled floating boom guides them to one collection point. Control software adapts both to the bloom. Layer 3, a small manual-catch crew, sweeps any straggler; the existing screens stay as the last line.</a:t>
            </a:r>
            <a:endParaRPr lang="en-US" sz="1700" dirty="0"/>
          </a:p>
        </p:txBody>
      </p:sp>
      <p:sp>
        <p:nvSpPr>
          <p:cNvPr id="14" name="Shape 12"/>
          <p:cNvSpPr/>
          <p:nvPr/>
        </p:nvSpPr>
        <p:spPr>
          <a:xfrm>
            <a:off x="8107070" y="1508760"/>
            <a:ext cx="3504895" cy="3520440"/>
          </a:xfrm>
          <a:prstGeom prst="roundRect">
            <a:avLst>
              <a:gd name="adj" fmla="val 2609"/>
            </a:avLst>
          </a:prstGeom>
          <a:solidFill>
            <a:schemeClr val="bg2"/>
          </a:solidFill>
          <a:ln/>
        </p:spPr>
      </p:sp>
      <p:sp>
        <p:nvSpPr>
          <p:cNvPr id="15" name="Shape 13"/>
          <p:cNvSpPr/>
          <p:nvPr/>
        </p:nvSpPr>
        <p:spPr>
          <a:xfrm>
            <a:off x="8381390" y="1737360"/>
            <a:ext cx="457200" cy="457200"/>
          </a:xfrm>
          <a:prstGeom prst="ellipse">
            <a:avLst/>
          </a:prstGeom>
          <a:solidFill>
            <a:schemeClr val="accent1"/>
          </a:solidFill>
          <a:ln w="19050">
            <a:solidFill>
              <a:schemeClr val="bg1"/>
            </a:solidFill>
            <a:prstDash val="solid"/>
          </a:ln>
        </p:spPr>
      </p:sp>
      <p:sp>
        <p:nvSpPr>
          <p:cNvPr id="16" name="Text 14"/>
          <p:cNvSpPr txBox="1"/>
          <p:nvPr/>
        </p:nvSpPr>
        <p:spPr>
          <a:xfrm>
            <a:off x="8381390" y="17373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5"/>
          <p:cNvSpPr txBox="1"/>
          <p:nvPr/>
        </p:nvSpPr>
        <p:spPr>
          <a:xfrm>
            <a:off x="9021470" y="1737360"/>
            <a:ext cx="2407615" cy="457200"/>
          </a:xfrm>
          <a:prstGeom prst="rect">
            <a:avLst/>
          </a:prstGeom>
          <a:noFill/>
          <a:ln/>
        </p:spPr>
        <p:txBody>
          <a:bodyPr wrap="square" lIns="0" tIns="0" rIns="0" bIns="0" rtlCol="0" anchor="ctr"/>
          <a:lstStyle/>
          <a:p>
            <a:pPr indent="0" marL="0">
              <a:buNone/>
            </a:pPr>
            <a:r>
              <a:rPr lang="en-US" sz="2000" b="1" dirty="0">
                <a:solidFill>
                  <a:schemeClr val="accent1"/>
                </a:solidFill>
              </a:rPr>
              <a:t>Why it is credible</a:t>
            </a:r>
            <a:endParaRPr lang="en-US" sz="2000" dirty="0"/>
          </a:p>
        </p:txBody>
      </p:sp>
      <p:sp>
        <p:nvSpPr>
          <p:cNvPr id="18" name="Text 16"/>
          <p:cNvSpPr txBox="1"/>
          <p:nvPr/>
        </p:nvSpPr>
        <p:spPr>
          <a:xfrm>
            <a:off x="8381390" y="2423160"/>
            <a:ext cx="2956255" cy="2468880"/>
          </a:xfrm>
          <a:prstGeom prst="rect">
            <a:avLst/>
          </a:prstGeom>
          <a:noFill/>
          <a:ln/>
        </p:spPr>
        <p:txBody>
          <a:bodyPr wrap="square" lIns="0" tIns="0" rIns="0" bIns="0" rtlCol="0" anchor="t"/>
          <a:lstStyle/>
          <a:p>
            <a:pPr indent="0" marL="0">
              <a:buNone/>
            </a:pPr>
            <a:r>
              <a:rPr lang="en-US" sz="1700" dirty="0">
                <a:solidFill>
                  <a:schemeClr val="tx1"/>
                </a:solidFill>
              </a:rPr>
              <a:t>A flume study found a bubble plume plus floating boom gathers jellyfish for pump removal (Lo, 1996). Bubble curtains cut jellyfish by 77% in Tasmanian pens. Booms have flume-based design guidance for power-station intakes.</a:t>
            </a:r>
            <a:endParaRPr lang="en-US" sz="1700" dirty="0"/>
          </a:p>
        </p:txBody>
      </p:sp>
      <p:sp>
        <p:nvSpPr>
          <p:cNvPr id="19" name="Shape 17"/>
          <p:cNvSpPr/>
          <p:nvPr/>
        </p:nvSpPr>
        <p:spPr>
          <a:xfrm>
            <a:off x="548640" y="5257800"/>
            <a:ext cx="11064240" cy="868680"/>
          </a:xfrm>
          <a:prstGeom prst="roundRect">
            <a:avLst>
              <a:gd name="adj" fmla="val 10526"/>
            </a:avLst>
          </a:prstGeom>
          <a:solidFill>
            <a:schemeClr val="tx1"/>
          </a:solidFill>
          <a:ln/>
        </p:spPr>
      </p:sp>
      <p:sp>
        <p:nvSpPr>
          <p:cNvPr id="20" name="Text 18"/>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600" b="1" dirty="0">
                <a:solidFill>
                  <a:schemeClr val="accent3"/>
                </a:solidFill>
              </a:rPr>
              <a:t>Next step  </a:t>
            </a:r>
            <a:pPr indent="0" marL="0">
              <a:buNone/>
            </a:pPr>
            <a:r>
              <a:rPr lang="en-US" sz="1600" dirty="0">
                <a:solidFill>
                  <a:schemeClr val="bg1"/>
                </a:solidFill>
              </a:rPr>
              <a:t>Build and test the controller in simulation and a bench flume with density-matched analogues, then a sheltered-water pilot. No change to plant or nuclear-safety systems.</a:t>
            </a:r>
            <a:endParaRPr lang="en-US" sz="16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02  |  THE PROBLEM</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Jellyfish blooms are shutting down coastal plants</a:t>
            </a:r>
            <a:endParaRPr lang="en-US" sz="2800" dirty="0"/>
          </a:p>
        </p:txBody>
      </p:sp>
      <p:pic>
        <p:nvPicPr>
          <p:cNvPr id="4" name="Image 0" descr="Seawater intake channel at a coastal nuclear plant">    </p:cNvPr>
          <p:cNvPicPr>
            <a:picLocks noChangeAspect="1"/>
          </p:cNvPicPr>
          <p:nvPr/>
        </p:nvPicPr>
        <p:blipFill>
          <a:blip r:embed="rId1"/>
          <a:stretch>
            <a:fillRect/>
          </a:stretch>
        </p:blipFill>
        <p:spPr>
          <a:xfrm>
            <a:off x="548640" y="1508760"/>
            <a:ext cx="4572000" cy="4160520"/>
          </a:xfrm>
          <a:prstGeom prst="rect">
            <a:avLst/>
          </a:prstGeom>
        </p:spPr>
      </p:pic>
      <p:sp>
        <p:nvSpPr>
          <p:cNvPr id="5" name="Text 2"/>
          <p:cNvSpPr txBox="1"/>
          <p:nvPr/>
        </p:nvSpPr>
        <p:spPr>
          <a:xfrm>
            <a:off x="548640" y="5760720"/>
            <a:ext cx="4572000" cy="365760"/>
          </a:xfrm>
          <a:prstGeom prst="rect">
            <a:avLst/>
          </a:prstGeom>
          <a:noFill/>
          <a:ln/>
        </p:spPr>
        <p:txBody>
          <a:bodyPr wrap="square" lIns="0" tIns="0" rIns="0" bIns="0" rtlCol="0" anchor="t"/>
          <a:lstStyle/>
          <a:p>
            <a:pPr indent="0" marL="0">
              <a:buNone/>
            </a:pPr>
            <a:r>
              <a:rPr lang="en-US" sz="1100" dirty="0">
                <a:solidFill>
                  <a:schemeClr val="accent5"/>
                </a:solidFill>
              </a:rPr>
              <a:t>Seawater intake channel at a coastal nuclear plant (team reference photo)</a:t>
            </a:r>
            <a:endParaRPr lang="en-US" sz="1100" dirty="0"/>
          </a:p>
        </p:txBody>
      </p:sp>
      <p:sp>
        <p:nvSpPr>
          <p:cNvPr id="6" name="Shape 3"/>
          <p:cNvSpPr/>
          <p:nvPr/>
        </p:nvSpPr>
        <p:spPr>
          <a:xfrm>
            <a:off x="5486400" y="1508760"/>
            <a:ext cx="6126480" cy="1051560"/>
          </a:xfrm>
          <a:prstGeom prst="roundRect">
            <a:avLst>
              <a:gd name="adj" fmla="val 8696"/>
            </a:avLst>
          </a:prstGeom>
          <a:solidFill>
            <a:schemeClr val="bg2"/>
          </a:solidFill>
          <a:ln/>
        </p:spPr>
      </p:sp>
      <p:sp>
        <p:nvSpPr>
          <p:cNvPr id="7" name="Text 4"/>
          <p:cNvSpPr txBox="1"/>
          <p:nvPr/>
        </p:nvSpPr>
        <p:spPr>
          <a:xfrm>
            <a:off x="5715000" y="1508760"/>
            <a:ext cx="1920240"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 of 6</a:t>
            </a:r>
            <a:endParaRPr lang="en-US" sz="2800" dirty="0"/>
          </a:p>
        </p:txBody>
      </p:sp>
      <p:sp>
        <p:nvSpPr>
          <p:cNvPr id="8" name="Text 5"/>
          <p:cNvSpPr txBox="1"/>
          <p:nvPr/>
        </p:nvSpPr>
        <p:spPr>
          <a:xfrm>
            <a:off x="7680960" y="1581912"/>
            <a:ext cx="3794760" cy="914400"/>
          </a:xfrm>
          <a:prstGeom prst="rect">
            <a:avLst/>
          </a:prstGeom>
          <a:noFill/>
          <a:ln/>
        </p:spPr>
        <p:txBody>
          <a:bodyPr wrap="square" lIns="0" tIns="0" rIns="0" bIns="0" rtlCol="0" anchor="ctr"/>
          <a:lstStyle/>
          <a:p>
            <a:pPr indent="0" marL="0">
              <a:buNone/>
            </a:pPr>
            <a:r>
              <a:rPr lang="en-US" sz="1400" dirty="0">
                <a:solidFill>
                  <a:schemeClr val="tx1"/>
                </a:solidFill>
              </a:rPr>
              <a:t>Gravelines, France, Aug 2025: jellyfish in the pump-station filter drums shut four reactors. It happened again in Aug 2026.</a:t>
            </a:r>
            <a:endParaRPr lang="en-US" sz="1400" dirty="0"/>
          </a:p>
        </p:txBody>
      </p:sp>
      <p:sp>
        <p:nvSpPr>
          <p:cNvPr id="9" name="Shape 6"/>
          <p:cNvSpPr/>
          <p:nvPr/>
        </p:nvSpPr>
        <p:spPr>
          <a:xfrm>
            <a:off x="5486400" y="2697480"/>
            <a:ext cx="6126480" cy="1051560"/>
          </a:xfrm>
          <a:prstGeom prst="roundRect">
            <a:avLst>
              <a:gd name="adj" fmla="val 8696"/>
            </a:avLst>
          </a:prstGeom>
          <a:solidFill>
            <a:schemeClr val="bg2"/>
          </a:solidFill>
          <a:ln/>
        </p:spPr>
      </p:sp>
      <p:sp>
        <p:nvSpPr>
          <p:cNvPr id="10" name="Text 7"/>
          <p:cNvSpPr txBox="1"/>
          <p:nvPr/>
        </p:nvSpPr>
        <p:spPr>
          <a:xfrm>
            <a:off x="5715000" y="2697480"/>
            <a:ext cx="1920240"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300 t</a:t>
            </a:r>
            <a:endParaRPr lang="en-US" sz="2800" dirty="0"/>
          </a:p>
        </p:txBody>
      </p:sp>
      <p:sp>
        <p:nvSpPr>
          <p:cNvPr id="11" name="Text 8"/>
          <p:cNvSpPr txBox="1"/>
          <p:nvPr/>
        </p:nvSpPr>
        <p:spPr>
          <a:xfrm>
            <a:off x="7680960" y="2770632"/>
            <a:ext cx="3794760" cy="914400"/>
          </a:xfrm>
          <a:prstGeom prst="rect">
            <a:avLst/>
          </a:prstGeom>
          <a:noFill/>
          <a:ln/>
        </p:spPr>
        <p:txBody>
          <a:bodyPr wrap="square" lIns="0" tIns="0" rIns="0" bIns="0" rtlCol="0" anchor="ctr"/>
          <a:lstStyle/>
          <a:p>
            <a:pPr indent="0" marL="0">
              <a:buNone/>
            </a:pPr>
            <a:r>
              <a:rPr lang="en-US" sz="1400" dirty="0">
                <a:solidFill>
                  <a:schemeClr val="tx1"/>
                </a:solidFill>
              </a:rPr>
              <a:t>Ghubra desalination, Oman: 300 tonnes of jellyfish damaged intake screens and cut output by 50%.</a:t>
            </a:r>
            <a:endParaRPr lang="en-US" sz="1400" dirty="0"/>
          </a:p>
        </p:txBody>
      </p:sp>
      <p:sp>
        <p:nvSpPr>
          <p:cNvPr id="12" name="Shape 9"/>
          <p:cNvSpPr/>
          <p:nvPr/>
        </p:nvSpPr>
        <p:spPr>
          <a:xfrm>
            <a:off x="5486400" y="3886200"/>
            <a:ext cx="6126480" cy="1051560"/>
          </a:xfrm>
          <a:prstGeom prst="roundRect">
            <a:avLst>
              <a:gd name="adj" fmla="val 8696"/>
            </a:avLst>
          </a:prstGeom>
          <a:solidFill>
            <a:schemeClr val="bg2"/>
          </a:solidFill>
          <a:ln/>
        </p:spPr>
      </p:sp>
      <p:sp>
        <p:nvSpPr>
          <p:cNvPr id="13" name="Text 10"/>
          <p:cNvSpPr txBox="1"/>
          <p:nvPr/>
        </p:nvSpPr>
        <p:spPr>
          <a:xfrm>
            <a:off x="5715000" y="3886200"/>
            <a:ext cx="1920240" cy="105156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Gulf-wide</a:t>
            </a:r>
            <a:endParaRPr lang="en-US" sz="2800" dirty="0"/>
          </a:p>
        </p:txBody>
      </p:sp>
      <p:sp>
        <p:nvSpPr>
          <p:cNvPr id="14" name="Text 11"/>
          <p:cNvSpPr txBox="1"/>
          <p:nvPr/>
        </p:nvSpPr>
        <p:spPr>
          <a:xfrm>
            <a:off x="7680960" y="3959352"/>
            <a:ext cx="3794760" cy="914400"/>
          </a:xfrm>
          <a:prstGeom prst="rect">
            <a:avLst/>
          </a:prstGeom>
          <a:noFill/>
          <a:ln/>
        </p:spPr>
        <p:txBody>
          <a:bodyPr wrap="square" lIns="0" tIns="0" rIns="0" bIns="0" rtlCol="0" anchor="ctr"/>
          <a:lstStyle/>
          <a:p>
            <a:pPr indent="0" marL="0">
              <a:buNone/>
            </a:pPr>
            <a:r>
              <a:rPr lang="en-US" sz="1400" dirty="0">
                <a:solidFill>
                  <a:schemeClr val="tx1"/>
                </a:solidFill>
              </a:rPr>
              <a:t>2002-03 Crambionella bloom damaged power-plant cooling systems in the Gulf of Oman and Persian Gulf. Al-Zour, Kuwait, saw screens blocked in 2017.</a:t>
            </a:r>
            <a:endParaRPr lang="en-US" sz="1400" dirty="0"/>
          </a:p>
        </p:txBody>
      </p:sp>
      <p:sp>
        <p:nvSpPr>
          <p:cNvPr id="15" name="Shape 12"/>
          <p:cNvSpPr/>
          <p:nvPr/>
        </p:nvSpPr>
        <p:spPr>
          <a:xfrm>
            <a:off x="5486400" y="5120640"/>
            <a:ext cx="6126480" cy="914400"/>
          </a:xfrm>
          <a:prstGeom prst="roundRect">
            <a:avLst>
              <a:gd name="adj" fmla="val 10000"/>
            </a:avLst>
          </a:prstGeom>
          <a:solidFill>
            <a:schemeClr val="tx1"/>
          </a:solidFill>
          <a:ln/>
        </p:spPr>
      </p:sp>
      <p:sp>
        <p:nvSpPr>
          <p:cNvPr id="16" name="Text 13"/>
          <p:cNvSpPr txBox="1"/>
          <p:nvPr/>
        </p:nvSpPr>
        <p:spPr>
          <a:xfrm>
            <a:off x="5715000" y="5120640"/>
            <a:ext cx="5669280" cy="914400"/>
          </a:xfrm>
          <a:prstGeom prst="rect">
            <a:avLst/>
          </a:prstGeom>
          <a:noFill/>
          <a:ln/>
        </p:spPr>
        <p:txBody>
          <a:bodyPr wrap="square" lIns="0" tIns="0" rIns="0" bIns="0" rtlCol="0" anchor="ctr"/>
          <a:lstStyle/>
          <a:p>
            <a:pPr indent="0" marL="0">
              <a:buNone/>
            </a:pPr>
            <a:r>
              <a:rPr lang="en-US" sz="1400" b="1" dirty="0">
                <a:solidFill>
                  <a:schemeClr val="accent3"/>
                </a:solidFill>
              </a:rPr>
              <a:t>Target  </a:t>
            </a:r>
            <a:pPr indent="0" marL="0">
              <a:buNone/>
            </a:pPr>
            <a:r>
              <a:rPr lang="en-US" sz="1400" dirty="0">
                <a:solidFill>
                  <a:schemeClr val="bg1"/>
                </a:solidFill>
              </a:rPr>
              <a:t>Catostylus mosaicus, 30-45 cm, dense and firm (ENEC brief). The system must handle large, continuous volumes, not single animals.</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03  |  SYSTEM DESIGN</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How it works: lift, guide, collect, back up</a:t>
            </a:r>
            <a:endParaRPr lang="en-US" sz="2800" dirty="0"/>
          </a:p>
        </p:txBody>
      </p:sp>
      <p:sp>
        <p:nvSpPr>
          <p:cNvPr id="4" name="Shape 2"/>
          <p:cNvSpPr/>
          <p:nvPr/>
        </p:nvSpPr>
        <p:spPr>
          <a:xfrm>
            <a:off x="548640" y="1508760"/>
            <a:ext cx="7406640" cy="4206240"/>
          </a:xfrm>
          <a:prstGeom prst="roundRect">
            <a:avLst>
              <a:gd name="adj" fmla="val 2174"/>
            </a:avLst>
          </a:prstGeom>
          <a:solidFill>
            <a:schemeClr val="accent3">
              <a:alpha val="18000"/>
            </a:schemeClr>
          </a:solidFill>
          <a:ln/>
        </p:spPr>
      </p:sp>
      <p:sp>
        <p:nvSpPr>
          <p:cNvPr id="5" name="Shape 3"/>
          <p:cNvSpPr/>
          <p:nvPr/>
        </p:nvSpPr>
        <p:spPr>
          <a:xfrm>
            <a:off x="548640" y="5440680"/>
            <a:ext cx="7406640" cy="274320"/>
          </a:xfrm>
          <a:prstGeom prst="rect">
            <a:avLst/>
          </a:prstGeom>
          <a:solidFill>
            <a:schemeClr val="accent4">
              <a:alpha val="45000"/>
            </a:schemeClr>
          </a:solidFill>
          <a:ln/>
        </p:spPr>
      </p:sp>
      <p:sp>
        <p:nvSpPr>
          <p:cNvPr id="6" name="Text 4"/>
          <p:cNvSpPr txBox="1"/>
          <p:nvPr/>
        </p:nvSpPr>
        <p:spPr>
          <a:xfrm>
            <a:off x="731520" y="5440680"/>
            <a:ext cx="2743200" cy="274320"/>
          </a:xfrm>
          <a:prstGeom prst="rect">
            <a:avLst/>
          </a:prstGeom>
          <a:noFill/>
          <a:ln/>
        </p:spPr>
        <p:txBody>
          <a:bodyPr wrap="square" lIns="0" tIns="0" rIns="0" bIns="0" rtlCol="0" anchor="ctr"/>
          <a:lstStyle/>
          <a:p>
            <a:pPr indent="0" marL="0">
              <a:buNone/>
            </a:pPr>
            <a:r>
              <a:rPr lang="en-US" sz="1000" b="1" dirty="0">
                <a:solidFill>
                  <a:schemeClr val="tx1"/>
                </a:solidFill>
              </a:rPr>
              <a:t>SHORE / BREAKWATER</a:t>
            </a:r>
            <a:endParaRPr lang="en-US" sz="1000" dirty="0"/>
          </a:p>
        </p:txBody>
      </p:sp>
      <p:sp>
        <p:nvSpPr>
          <p:cNvPr id="7" name="Shape 5"/>
          <p:cNvSpPr/>
          <p:nvPr/>
        </p:nvSpPr>
        <p:spPr>
          <a:xfrm>
            <a:off x="914400" y="2011680"/>
            <a:ext cx="201168" cy="201168"/>
          </a:xfrm>
          <a:prstGeom prst="ellipse">
            <a:avLst/>
          </a:prstGeom>
          <a:solidFill>
            <a:schemeClr val="accent2"/>
          </a:solidFill>
          <a:ln w="12700">
            <a:solidFill>
              <a:schemeClr val="bg1"/>
            </a:solidFill>
            <a:prstDash val="solid"/>
          </a:ln>
        </p:spPr>
      </p:sp>
      <p:sp>
        <p:nvSpPr>
          <p:cNvPr id="8" name="Shape 6"/>
          <p:cNvSpPr/>
          <p:nvPr/>
        </p:nvSpPr>
        <p:spPr>
          <a:xfrm>
            <a:off x="1554480" y="2651760"/>
            <a:ext cx="201168" cy="201168"/>
          </a:xfrm>
          <a:prstGeom prst="ellipse">
            <a:avLst/>
          </a:prstGeom>
          <a:solidFill>
            <a:schemeClr val="accent2"/>
          </a:solidFill>
          <a:ln w="12700">
            <a:solidFill>
              <a:schemeClr val="bg1"/>
            </a:solidFill>
            <a:prstDash val="solid"/>
          </a:ln>
        </p:spPr>
      </p:sp>
      <p:sp>
        <p:nvSpPr>
          <p:cNvPr id="9" name="Shape 7"/>
          <p:cNvSpPr/>
          <p:nvPr/>
        </p:nvSpPr>
        <p:spPr>
          <a:xfrm>
            <a:off x="1097280" y="3291840"/>
            <a:ext cx="201168" cy="201168"/>
          </a:xfrm>
          <a:prstGeom prst="ellipse">
            <a:avLst/>
          </a:prstGeom>
          <a:solidFill>
            <a:schemeClr val="accent2"/>
          </a:solidFill>
          <a:ln w="12700">
            <a:solidFill>
              <a:schemeClr val="bg1"/>
            </a:solidFill>
            <a:prstDash val="solid"/>
          </a:ln>
        </p:spPr>
      </p:sp>
      <p:sp>
        <p:nvSpPr>
          <p:cNvPr id="10" name="Shape 8"/>
          <p:cNvSpPr/>
          <p:nvPr/>
        </p:nvSpPr>
        <p:spPr>
          <a:xfrm>
            <a:off x="2011680" y="2240280"/>
            <a:ext cx="201168" cy="201168"/>
          </a:xfrm>
          <a:prstGeom prst="ellipse">
            <a:avLst/>
          </a:prstGeom>
          <a:solidFill>
            <a:schemeClr val="accent2"/>
          </a:solidFill>
          <a:ln w="12700">
            <a:solidFill>
              <a:schemeClr val="bg1"/>
            </a:solidFill>
            <a:prstDash val="solid"/>
          </a:ln>
        </p:spPr>
      </p:sp>
      <p:sp>
        <p:nvSpPr>
          <p:cNvPr id="11" name="Shape 9"/>
          <p:cNvSpPr/>
          <p:nvPr/>
        </p:nvSpPr>
        <p:spPr>
          <a:xfrm>
            <a:off x="2194560" y="3108960"/>
            <a:ext cx="201168" cy="201168"/>
          </a:xfrm>
          <a:prstGeom prst="ellipse">
            <a:avLst/>
          </a:prstGeom>
          <a:solidFill>
            <a:schemeClr val="accent2"/>
          </a:solidFill>
          <a:ln w="12700">
            <a:solidFill>
              <a:schemeClr val="bg1"/>
            </a:solidFill>
            <a:prstDash val="solid"/>
          </a:ln>
        </p:spPr>
      </p:sp>
      <p:sp>
        <p:nvSpPr>
          <p:cNvPr id="12" name="Shape 10"/>
          <p:cNvSpPr/>
          <p:nvPr/>
        </p:nvSpPr>
        <p:spPr>
          <a:xfrm>
            <a:off x="1463040" y="3931920"/>
            <a:ext cx="201168" cy="201168"/>
          </a:xfrm>
          <a:prstGeom prst="ellipse">
            <a:avLst/>
          </a:prstGeom>
          <a:solidFill>
            <a:schemeClr val="accent2"/>
          </a:solidFill>
          <a:ln w="12700">
            <a:solidFill>
              <a:schemeClr val="bg1"/>
            </a:solidFill>
            <a:prstDash val="solid"/>
          </a:ln>
        </p:spPr>
      </p:sp>
      <p:sp>
        <p:nvSpPr>
          <p:cNvPr id="13" name="Shape 11"/>
          <p:cNvSpPr/>
          <p:nvPr/>
        </p:nvSpPr>
        <p:spPr>
          <a:xfrm>
            <a:off x="2286000" y="3840480"/>
            <a:ext cx="201168" cy="201168"/>
          </a:xfrm>
          <a:prstGeom prst="ellipse">
            <a:avLst/>
          </a:prstGeom>
          <a:solidFill>
            <a:schemeClr val="accent2"/>
          </a:solidFill>
          <a:ln w="12700">
            <a:solidFill>
              <a:schemeClr val="bg1"/>
            </a:solidFill>
            <a:prstDash val="solid"/>
          </a:ln>
        </p:spPr>
      </p:sp>
      <p:sp>
        <p:nvSpPr>
          <p:cNvPr id="14" name="Shape 12"/>
          <p:cNvSpPr/>
          <p:nvPr/>
        </p:nvSpPr>
        <p:spPr>
          <a:xfrm>
            <a:off x="914400" y="4480560"/>
            <a:ext cx="201168" cy="201168"/>
          </a:xfrm>
          <a:prstGeom prst="ellipse">
            <a:avLst/>
          </a:prstGeom>
          <a:solidFill>
            <a:schemeClr val="accent2"/>
          </a:solidFill>
          <a:ln w="12700">
            <a:solidFill>
              <a:schemeClr val="bg1"/>
            </a:solidFill>
            <a:prstDash val="solid"/>
          </a:ln>
        </p:spPr>
      </p:sp>
      <p:sp>
        <p:nvSpPr>
          <p:cNvPr id="15" name="Shape 13"/>
          <p:cNvSpPr/>
          <p:nvPr/>
        </p:nvSpPr>
        <p:spPr>
          <a:xfrm>
            <a:off x="2011680" y="4663440"/>
            <a:ext cx="201168" cy="201168"/>
          </a:xfrm>
          <a:prstGeom prst="ellipse">
            <a:avLst/>
          </a:prstGeom>
          <a:solidFill>
            <a:schemeClr val="accent2"/>
          </a:solidFill>
          <a:ln w="12700">
            <a:solidFill>
              <a:schemeClr val="bg1"/>
            </a:solidFill>
            <a:prstDash val="solid"/>
          </a:ln>
        </p:spPr>
      </p:sp>
      <p:sp>
        <p:nvSpPr>
          <p:cNvPr id="16" name="Shape 14"/>
          <p:cNvSpPr/>
          <p:nvPr/>
        </p:nvSpPr>
        <p:spPr>
          <a:xfrm>
            <a:off x="1737360" y="3566160"/>
            <a:ext cx="201168" cy="201168"/>
          </a:xfrm>
          <a:prstGeom prst="ellipse">
            <a:avLst/>
          </a:prstGeom>
          <a:solidFill>
            <a:schemeClr val="accent2"/>
          </a:solidFill>
          <a:ln w="12700">
            <a:solidFill>
              <a:schemeClr val="bg1"/>
            </a:solidFill>
            <a:prstDash val="solid"/>
          </a:ln>
        </p:spPr>
      </p:sp>
      <p:sp>
        <p:nvSpPr>
          <p:cNvPr id="17" name="Text 15"/>
          <p:cNvSpPr txBox="1"/>
          <p:nvPr/>
        </p:nvSpPr>
        <p:spPr>
          <a:xfrm>
            <a:off x="822960" y="4892040"/>
            <a:ext cx="2011680" cy="256032"/>
          </a:xfrm>
          <a:prstGeom prst="rect">
            <a:avLst/>
          </a:prstGeom>
          <a:noFill/>
          <a:ln/>
        </p:spPr>
        <p:txBody>
          <a:bodyPr wrap="square" lIns="0" tIns="0" rIns="0" bIns="0" rtlCol="0" anchor="t"/>
          <a:lstStyle/>
          <a:p>
            <a:pPr indent="0" marL="0">
              <a:buNone/>
            </a:pPr>
            <a:r>
              <a:rPr lang="en-US" sz="1200" b="1" dirty="0">
                <a:solidFill>
                  <a:schemeClr val="accent5"/>
                </a:solidFill>
              </a:rPr>
              <a:t>Current and bloom drift</a:t>
            </a:r>
            <a:endParaRPr lang="en-US" sz="1200" dirty="0"/>
          </a:p>
        </p:txBody>
      </p:sp>
      <p:sp>
        <p:nvSpPr>
          <p:cNvPr id="18" name="Shape 16"/>
          <p:cNvSpPr/>
          <p:nvPr/>
        </p:nvSpPr>
        <p:spPr>
          <a:xfrm>
            <a:off x="822960" y="5257800"/>
            <a:ext cx="1737360" cy="0"/>
          </a:xfrm>
          <a:prstGeom prst="line">
            <a:avLst/>
          </a:prstGeom>
          <a:noFill/>
          <a:ln w="38100">
            <a:solidFill>
              <a:schemeClr val="accent1"/>
            </a:solidFill>
            <a:prstDash val="solid"/>
            <a:tailEnd type="triangle"/>
          </a:ln>
        </p:spPr>
      </p:sp>
      <p:sp>
        <p:nvSpPr>
          <p:cNvPr id="19" name="Shape 17"/>
          <p:cNvSpPr/>
          <p:nvPr/>
        </p:nvSpPr>
        <p:spPr>
          <a:xfrm>
            <a:off x="2834640" y="1965960"/>
            <a:ext cx="0" cy="3474720"/>
          </a:xfrm>
          <a:prstGeom prst="line">
            <a:avLst/>
          </a:prstGeom>
          <a:noFill/>
          <a:ln w="25400">
            <a:solidFill>
              <a:schemeClr val="accent3"/>
            </a:solidFill>
            <a:prstDash val="solid"/>
          </a:ln>
        </p:spPr>
      </p:sp>
      <p:sp>
        <p:nvSpPr>
          <p:cNvPr id="20" name="Shape 18"/>
          <p:cNvSpPr/>
          <p:nvPr/>
        </p:nvSpPr>
        <p:spPr>
          <a:xfrm>
            <a:off x="2770632" y="1965960"/>
            <a:ext cx="128016" cy="128016"/>
          </a:xfrm>
          <a:prstGeom prst="ellipse">
            <a:avLst/>
          </a:prstGeom>
          <a:solidFill>
            <a:schemeClr val="bg1"/>
          </a:solidFill>
          <a:ln w="12700">
            <a:solidFill>
              <a:schemeClr val="accent3"/>
            </a:solidFill>
            <a:prstDash val="solid"/>
          </a:ln>
        </p:spPr>
      </p:sp>
      <p:sp>
        <p:nvSpPr>
          <p:cNvPr id="21" name="Shape 19"/>
          <p:cNvSpPr/>
          <p:nvPr/>
        </p:nvSpPr>
        <p:spPr>
          <a:xfrm>
            <a:off x="2770632" y="2139696"/>
            <a:ext cx="128016" cy="128016"/>
          </a:xfrm>
          <a:prstGeom prst="ellipse">
            <a:avLst/>
          </a:prstGeom>
          <a:solidFill>
            <a:schemeClr val="bg1"/>
          </a:solidFill>
          <a:ln w="12700">
            <a:solidFill>
              <a:schemeClr val="accent3"/>
            </a:solidFill>
            <a:prstDash val="solid"/>
          </a:ln>
        </p:spPr>
      </p:sp>
      <p:sp>
        <p:nvSpPr>
          <p:cNvPr id="22" name="Shape 20"/>
          <p:cNvSpPr/>
          <p:nvPr/>
        </p:nvSpPr>
        <p:spPr>
          <a:xfrm>
            <a:off x="2770632" y="2313432"/>
            <a:ext cx="128016" cy="128016"/>
          </a:xfrm>
          <a:prstGeom prst="ellipse">
            <a:avLst/>
          </a:prstGeom>
          <a:solidFill>
            <a:schemeClr val="bg1"/>
          </a:solidFill>
          <a:ln w="12700">
            <a:solidFill>
              <a:schemeClr val="accent3"/>
            </a:solidFill>
            <a:prstDash val="solid"/>
          </a:ln>
        </p:spPr>
      </p:sp>
      <p:sp>
        <p:nvSpPr>
          <p:cNvPr id="23" name="Shape 21"/>
          <p:cNvSpPr/>
          <p:nvPr/>
        </p:nvSpPr>
        <p:spPr>
          <a:xfrm>
            <a:off x="2770632" y="2487168"/>
            <a:ext cx="128016" cy="128016"/>
          </a:xfrm>
          <a:prstGeom prst="ellipse">
            <a:avLst/>
          </a:prstGeom>
          <a:solidFill>
            <a:schemeClr val="bg1"/>
          </a:solidFill>
          <a:ln w="12700">
            <a:solidFill>
              <a:schemeClr val="accent3"/>
            </a:solidFill>
            <a:prstDash val="solid"/>
          </a:ln>
        </p:spPr>
      </p:sp>
      <p:sp>
        <p:nvSpPr>
          <p:cNvPr id="24" name="Shape 22"/>
          <p:cNvSpPr/>
          <p:nvPr/>
        </p:nvSpPr>
        <p:spPr>
          <a:xfrm>
            <a:off x="2770632" y="2660904"/>
            <a:ext cx="128016" cy="128016"/>
          </a:xfrm>
          <a:prstGeom prst="ellipse">
            <a:avLst/>
          </a:prstGeom>
          <a:solidFill>
            <a:schemeClr val="bg1"/>
          </a:solidFill>
          <a:ln w="12700">
            <a:solidFill>
              <a:schemeClr val="accent3"/>
            </a:solidFill>
            <a:prstDash val="solid"/>
          </a:ln>
        </p:spPr>
      </p:sp>
      <p:sp>
        <p:nvSpPr>
          <p:cNvPr id="25" name="Shape 23"/>
          <p:cNvSpPr/>
          <p:nvPr/>
        </p:nvSpPr>
        <p:spPr>
          <a:xfrm>
            <a:off x="2770632" y="2834640"/>
            <a:ext cx="128016" cy="128016"/>
          </a:xfrm>
          <a:prstGeom prst="ellipse">
            <a:avLst/>
          </a:prstGeom>
          <a:solidFill>
            <a:schemeClr val="bg1"/>
          </a:solidFill>
          <a:ln w="12700">
            <a:solidFill>
              <a:schemeClr val="accent3"/>
            </a:solidFill>
            <a:prstDash val="solid"/>
          </a:ln>
        </p:spPr>
      </p:sp>
      <p:sp>
        <p:nvSpPr>
          <p:cNvPr id="26" name="Shape 24"/>
          <p:cNvSpPr/>
          <p:nvPr/>
        </p:nvSpPr>
        <p:spPr>
          <a:xfrm>
            <a:off x="2770632" y="3008376"/>
            <a:ext cx="128016" cy="128016"/>
          </a:xfrm>
          <a:prstGeom prst="ellipse">
            <a:avLst/>
          </a:prstGeom>
          <a:solidFill>
            <a:schemeClr val="bg1"/>
          </a:solidFill>
          <a:ln w="12700">
            <a:solidFill>
              <a:schemeClr val="accent3"/>
            </a:solidFill>
            <a:prstDash val="solid"/>
          </a:ln>
        </p:spPr>
      </p:sp>
      <p:sp>
        <p:nvSpPr>
          <p:cNvPr id="27" name="Shape 25"/>
          <p:cNvSpPr/>
          <p:nvPr/>
        </p:nvSpPr>
        <p:spPr>
          <a:xfrm>
            <a:off x="2770632" y="3182112"/>
            <a:ext cx="128016" cy="128016"/>
          </a:xfrm>
          <a:prstGeom prst="ellipse">
            <a:avLst/>
          </a:prstGeom>
          <a:solidFill>
            <a:schemeClr val="bg1"/>
          </a:solidFill>
          <a:ln w="12700">
            <a:solidFill>
              <a:schemeClr val="accent3"/>
            </a:solidFill>
            <a:prstDash val="solid"/>
          </a:ln>
        </p:spPr>
      </p:sp>
      <p:sp>
        <p:nvSpPr>
          <p:cNvPr id="28" name="Shape 26"/>
          <p:cNvSpPr/>
          <p:nvPr/>
        </p:nvSpPr>
        <p:spPr>
          <a:xfrm>
            <a:off x="2770632" y="3355848"/>
            <a:ext cx="128016" cy="128016"/>
          </a:xfrm>
          <a:prstGeom prst="ellipse">
            <a:avLst/>
          </a:prstGeom>
          <a:solidFill>
            <a:schemeClr val="bg1"/>
          </a:solidFill>
          <a:ln w="12700">
            <a:solidFill>
              <a:schemeClr val="accent3"/>
            </a:solidFill>
            <a:prstDash val="solid"/>
          </a:ln>
        </p:spPr>
      </p:sp>
      <p:sp>
        <p:nvSpPr>
          <p:cNvPr id="29" name="Shape 27"/>
          <p:cNvSpPr/>
          <p:nvPr/>
        </p:nvSpPr>
        <p:spPr>
          <a:xfrm>
            <a:off x="2770632" y="3529584"/>
            <a:ext cx="128016" cy="128016"/>
          </a:xfrm>
          <a:prstGeom prst="ellipse">
            <a:avLst/>
          </a:prstGeom>
          <a:solidFill>
            <a:schemeClr val="bg1"/>
          </a:solidFill>
          <a:ln w="12700">
            <a:solidFill>
              <a:schemeClr val="accent3"/>
            </a:solidFill>
            <a:prstDash val="solid"/>
          </a:ln>
        </p:spPr>
      </p:sp>
      <p:sp>
        <p:nvSpPr>
          <p:cNvPr id="30" name="Shape 28"/>
          <p:cNvSpPr/>
          <p:nvPr/>
        </p:nvSpPr>
        <p:spPr>
          <a:xfrm>
            <a:off x="2770632" y="3703320"/>
            <a:ext cx="128016" cy="128016"/>
          </a:xfrm>
          <a:prstGeom prst="ellipse">
            <a:avLst/>
          </a:prstGeom>
          <a:solidFill>
            <a:schemeClr val="bg1"/>
          </a:solidFill>
          <a:ln w="12700">
            <a:solidFill>
              <a:schemeClr val="accent3"/>
            </a:solidFill>
            <a:prstDash val="solid"/>
          </a:ln>
        </p:spPr>
      </p:sp>
      <p:sp>
        <p:nvSpPr>
          <p:cNvPr id="31" name="Shape 29"/>
          <p:cNvSpPr/>
          <p:nvPr/>
        </p:nvSpPr>
        <p:spPr>
          <a:xfrm>
            <a:off x="2770632" y="3877056"/>
            <a:ext cx="128016" cy="128016"/>
          </a:xfrm>
          <a:prstGeom prst="ellipse">
            <a:avLst/>
          </a:prstGeom>
          <a:solidFill>
            <a:schemeClr val="bg1"/>
          </a:solidFill>
          <a:ln w="12700">
            <a:solidFill>
              <a:schemeClr val="accent3"/>
            </a:solidFill>
            <a:prstDash val="solid"/>
          </a:ln>
        </p:spPr>
      </p:sp>
      <p:sp>
        <p:nvSpPr>
          <p:cNvPr id="32" name="Shape 30"/>
          <p:cNvSpPr/>
          <p:nvPr/>
        </p:nvSpPr>
        <p:spPr>
          <a:xfrm>
            <a:off x="2770632" y="4050792"/>
            <a:ext cx="128016" cy="128016"/>
          </a:xfrm>
          <a:prstGeom prst="ellipse">
            <a:avLst/>
          </a:prstGeom>
          <a:solidFill>
            <a:schemeClr val="bg1"/>
          </a:solidFill>
          <a:ln w="12700">
            <a:solidFill>
              <a:schemeClr val="accent3"/>
            </a:solidFill>
            <a:prstDash val="solid"/>
          </a:ln>
        </p:spPr>
      </p:sp>
      <p:sp>
        <p:nvSpPr>
          <p:cNvPr id="33" name="Shape 31"/>
          <p:cNvSpPr/>
          <p:nvPr/>
        </p:nvSpPr>
        <p:spPr>
          <a:xfrm>
            <a:off x="2770632" y="4224528"/>
            <a:ext cx="128016" cy="128016"/>
          </a:xfrm>
          <a:prstGeom prst="ellipse">
            <a:avLst/>
          </a:prstGeom>
          <a:solidFill>
            <a:schemeClr val="bg1"/>
          </a:solidFill>
          <a:ln w="12700">
            <a:solidFill>
              <a:schemeClr val="accent3"/>
            </a:solidFill>
            <a:prstDash val="solid"/>
          </a:ln>
        </p:spPr>
      </p:sp>
      <p:sp>
        <p:nvSpPr>
          <p:cNvPr id="34" name="Shape 32"/>
          <p:cNvSpPr/>
          <p:nvPr/>
        </p:nvSpPr>
        <p:spPr>
          <a:xfrm>
            <a:off x="2770632" y="4398264"/>
            <a:ext cx="128016" cy="128016"/>
          </a:xfrm>
          <a:prstGeom prst="ellipse">
            <a:avLst/>
          </a:prstGeom>
          <a:solidFill>
            <a:schemeClr val="bg1"/>
          </a:solidFill>
          <a:ln w="12700">
            <a:solidFill>
              <a:schemeClr val="accent3"/>
            </a:solidFill>
            <a:prstDash val="solid"/>
          </a:ln>
        </p:spPr>
      </p:sp>
      <p:sp>
        <p:nvSpPr>
          <p:cNvPr id="35" name="Shape 33"/>
          <p:cNvSpPr/>
          <p:nvPr/>
        </p:nvSpPr>
        <p:spPr>
          <a:xfrm>
            <a:off x="2770632" y="4572000"/>
            <a:ext cx="128016" cy="128016"/>
          </a:xfrm>
          <a:prstGeom prst="ellipse">
            <a:avLst/>
          </a:prstGeom>
          <a:solidFill>
            <a:schemeClr val="bg1"/>
          </a:solidFill>
          <a:ln w="12700">
            <a:solidFill>
              <a:schemeClr val="accent3"/>
            </a:solidFill>
            <a:prstDash val="solid"/>
          </a:ln>
        </p:spPr>
      </p:sp>
      <p:sp>
        <p:nvSpPr>
          <p:cNvPr id="36" name="Shape 34"/>
          <p:cNvSpPr/>
          <p:nvPr/>
        </p:nvSpPr>
        <p:spPr>
          <a:xfrm>
            <a:off x="2770632" y="4745736"/>
            <a:ext cx="128016" cy="128016"/>
          </a:xfrm>
          <a:prstGeom prst="ellipse">
            <a:avLst/>
          </a:prstGeom>
          <a:solidFill>
            <a:schemeClr val="bg1"/>
          </a:solidFill>
          <a:ln w="12700">
            <a:solidFill>
              <a:schemeClr val="accent3"/>
            </a:solidFill>
            <a:prstDash val="solid"/>
          </a:ln>
        </p:spPr>
      </p:sp>
      <p:sp>
        <p:nvSpPr>
          <p:cNvPr id="37" name="Shape 35"/>
          <p:cNvSpPr/>
          <p:nvPr/>
        </p:nvSpPr>
        <p:spPr>
          <a:xfrm>
            <a:off x="2770632" y="4919472"/>
            <a:ext cx="128016" cy="128016"/>
          </a:xfrm>
          <a:prstGeom prst="ellipse">
            <a:avLst/>
          </a:prstGeom>
          <a:solidFill>
            <a:schemeClr val="bg1"/>
          </a:solidFill>
          <a:ln w="12700">
            <a:solidFill>
              <a:schemeClr val="accent3"/>
            </a:solidFill>
            <a:prstDash val="solid"/>
          </a:ln>
        </p:spPr>
      </p:sp>
      <p:sp>
        <p:nvSpPr>
          <p:cNvPr id="38" name="Shape 36"/>
          <p:cNvSpPr/>
          <p:nvPr/>
        </p:nvSpPr>
        <p:spPr>
          <a:xfrm>
            <a:off x="2770632" y="5093208"/>
            <a:ext cx="128016" cy="128016"/>
          </a:xfrm>
          <a:prstGeom prst="ellipse">
            <a:avLst/>
          </a:prstGeom>
          <a:solidFill>
            <a:schemeClr val="bg1"/>
          </a:solidFill>
          <a:ln w="12700">
            <a:solidFill>
              <a:schemeClr val="accent3"/>
            </a:solidFill>
            <a:prstDash val="solid"/>
          </a:ln>
        </p:spPr>
      </p:sp>
      <p:sp>
        <p:nvSpPr>
          <p:cNvPr id="39" name="Shape 37"/>
          <p:cNvSpPr/>
          <p:nvPr/>
        </p:nvSpPr>
        <p:spPr>
          <a:xfrm>
            <a:off x="2770632" y="5266944"/>
            <a:ext cx="128016" cy="128016"/>
          </a:xfrm>
          <a:prstGeom prst="ellipse">
            <a:avLst/>
          </a:prstGeom>
          <a:solidFill>
            <a:schemeClr val="bg1"/>
          </a:solidFill>
          <a:ln w="12700">
            <a:solidFill>
              <a:schemeClr val="accent3"/>
            </a:solidFill>
            <a:prstDash val="solid"/>
          </a:ln>
        </p:spPr>
      </p:sp>
      <p:sp>
        <p:nvSpPr>
          <p:cNvPr id="40" name="Shape 38"/>
          <p:cNvSpPr/>
          <p:nvPr/>
        </p:nvSpPr>
        <p:spPr>
          <a:xfrm>
            <a:off x="3246120" y="2651760"/>
            <a:ext cx="201168" cy="201168"/>
          </a:xfrm>
          <a:prstGeom prst="ellipse">
            <a:avLst/>
          </a:prstGeom>
          <a:solidFill>
            <a:schemeClr val="accent2"/>
          </a:solidFill>
          <a:ln w="19050">
            <a:solidFill>
              <a:schemeClr val="accent4"/>
            </a:solidFill>
            <a:prstDash val="solid"/>
          </a:ln>
        </p:spPr>
      </p:sp>
      <p:sp>
        <p:nvSpPr>
          <p:cNvPr id="41" name="Shape 39"/>
          <p:cNvSpPr/>
          <p:nvPr/>
        </p:nvSpPr>
        <p:spPr>
          <a:xfrm>
            <a:off x="3520440" y="3383280"/>
            <a:ext cx="201168" cy="201168"/>
          </a:xfrm>
          <a:prstGeom prst="ellipse">
            <a:avLst/>
          </a:prstGeom>
          <a:solidFill>
            <a:schemeClr val="accent2"/>
          </a:solidFill>
          <a:ln w="19050">
            <a:solidFill>
              <a:schemeClr val="accent4"/>
            </a:solidFill>
            <a:prstDash val="solid"/>
          </a:ln>
        </p:spPr>
      </p:sp>
      <p:sp>
        <p:nvSpPr>
          <p:cNvPr id="42" name="Shape 40"/>
          <p:cNvSpPr/>
          <p:nvPr/>
        </p:nvSpPr>
        <p:spPr>
          <a:xfrm>
            <a:off x="3200400" y="4114800"/>
            <a:ext cx="201168" cy="201168"/>
          </a:xfrm>
          <a:prstGeom prst="ellipse">
            <a:avLst/>
          </a:prstGeom>
          <a:solidFill>
            <a:schemeClr val="accent2"/>
          </a:solidFill>
          <a:ln w="19050">
            <a:solidFill>
              <a:schemeClr val="accent4"/>
            </a:solidFill>
            <a:prstDash val="solid"/>
          </a:ln>
        </p:spPr>
      </p:sp>
      <p:sp>
        <p:nvSpPr>
          <p:cNvPr id="43" name="Shape 41"/>
          <p:cNvSpPr/>
          <p:nvPr/>
        </p:nvSpPr>
        <p:spPr>
          <a:xfrm>
            <a:off x="3931920" y="3840480"/>
            <a:ext cx="201168" cy="201168"/>
          </a:xfrm>
          <a:prstGeom prst="ellipse">
            <a:avLst/>
          </a:prstGeom>
          <a:solidFill>
            <a:schemeClr val="accent2"/>
          </a:solidFill>
          <a:ln w="19050">
            <a:solidFill>
              <a:schemeClr val="accent4"/>
            </a:solidFill>
            <a:prstDash val="solid"/>
          </a:ln>
        </p:spPr>
      </p:sp>
      <p:sp>
        <p:nvSpPr>
          <p:cNvPr id="44" name="Shape 42"/>
          <p:cNvSpPr/>
          <p:nvPr/>
        </p:nvSpPr>
        <p:spPr>
          <a:xfrm>
            <a:off x="4206240" y="3017520"/>
            <a:ext cx="201168" cy="201168"/>
          </a:xfrm>
          <a:prstGeom prst="ellipse">
            <a:avLst/>
          </a:prstGeom>
          <a:solidFill>
            <a:schemeClr val="accent2"/>
          </a:solidFill>
          <a:ln w="19050">
            <a:solidFill>
              <a:schemeClr val="accent4"/>
            </a:solidFill>
            <a:prstDash val="solid"/>
          </a:ln>
        </p:spPr>
      </p:sp>
      <p:sp>
        <p:nvSpPr>
          <p:cNvPr id="45" name="Shape 43"/>
          <p:cNvSpPr/>
          <p:nvPr/>
        </p:nvSpPr>
        <p:spPr>
          <a:xfrm>
            <a:off x="3657600" y="4754880"/>
            <a:ext cx="201168" cy="201168"/>
          </a:xfrm>
          <a:prstGeom prst="ellipse">
            <a:avLst/>
          </a:prstGeom>
          <a:solidFill>
            <a:schemeClr val="accent2"/>
          </a:solidFill>
          <a:ln w="19050">
            <a:solidFill>
              <a:schemeClr val="accent4"/>
            </a:solidFill>
            <a:prstDash val="solid"/>
          </a:ln>
        </p:spPr>
      </p:sp>
      <p:sp>
        <p:nvSpPr>
          <p:cNvPr id="46" name="Shape 44"/>
          <p:cNvSpPr/>
          <p:nvPr/>
        </p:nvSpPr>
        <p:spPr>
          <a:xfrm>
            <a:off x="4572000" y="4389120"/>
            <a:ext cx="201168" cy="201168"/>
          </a:xfrm>
          <a:prstGeom prst="ellipse">
            <a:avLst/>
          </a:prstGeom>
          <a:solidFill>
            <a:schemeClr val="accent2"/>
          </a:solidFill>
          <a:ln w="19050">
            <a:solidFill>
              <a:schemeClr val="accent4"/>
            </a:solidFill>
            <a:prstDash val="solid"/>
          </a:ln>
        </p:spPr>
      </p:sp>
      <p:sp>
        <p:nvSpPr>
          <p:cNvPr id="47" name="Shape 45"/>
          <p:cNvSpPr/>
          <p:nvPr/>
        </p:nvSpPr>
        <p:spPr>
          <a:xfrm>
            <a:off x="5120640" y="3931920"/>
            <a:ext cx="201168" cy="201168"/>
          </a:xfrm>
          <a:prstGeom prst="ellipse">
            <a:avLst/>
          </a:prstGeom>
          <a:solidFill>
            <a:schemeClr val="accent2"/>
          </a:solidFill>
          <a:ln w="19050">
            <a:solidFill>
              <a:schemeClr val="accent4"/>
            </a:solidFill>
            <a:prstDash val="solid"/>
          </a:ln>
        </p:spPr>
      </p:sp>
      <p:sp>
        <p:nvSpPr>
          <p:cNvPr id="48" name="Text 46"/>
          <p:cNvSpPr txBox="1"/>
          <p:nvPr/>
        </p:nvSpPr>
        <p:spPr>
          <a:xfrm>
            <a:off x="3017520" y="5074920"/>
            <a:ext cx="1645920" cy="237744"/>
          </a:xfrm>
          <a:prstGeom prst="rect">
            <a:avLst/>
          </a:prstGeom>
          <a:noFill/>
          <a:ln/>
        </p:spPr>
        <p:txBody>
          <a:bodyPr wrap="square" lIns="0" tIns="0" rIns="0" bIns="0" rtlCol="0" anchor="t"/>
          <a:lstStyle/>
          <a:p>
            <a:pPr indent="0" marL="0">
              <a:buNone/>
            </a:pPr>
            <a:r>
              <a:rPr lang="en-US" sz="1100" dirty="0">
                <a:solidFill>
                  <a:schemeClr val="accent5"/>
                </a:solidFill>
              </a:rPr>
              <a:t>lifted to surface</a:t>
            </a:r>
            <a:endParaRPr lang="en-US" sz="1100" dirty="0"/>
          </a:p>
        </p:txBody>
      </p:sp>
      <p:sp>
        <p:nvSpPr>
          <p:cNvPr id="49" name="Shape 47"/>
          <p:cNvSpPr/>
          <p:nvPr/>
        </p:nvSpPr>
        <p:spPr>
          <a:xfrm>
            <a:off x="4572000" y="2880360"/>
            <a:ext cx="201168" cy="201168"/>
          </a:xfrm>
          <a:prstGeom prst="ellipse">
            <a:avLst/>
          </a:prstGeom>
          <a:solidFill>
            <a:schemeClr val="accent2"/>
          </a:solidFill>
          <a:ln w="12700">
            <a:solidFill>
              <a:schemeClr val="bg1"/>
            </a:solidFill>
            <a:prstDash val="solid"/>
          </a:ln>
        </p:spPr>
      </p:sp>
      <p:sp>
        <p:nvSpPr>
          <p:cNvPr id="50" name="Shape 48"/>
          <p:cNvSpPr/>
          <p:nvPr/>
        </p:nvSpPr>
        <p:spPr>
          <a:xfrm>
            <a:off x="5212080" y="3246120"/>
            <a:ext cx="201168" cy="201168"/>
          </a:xfrm>
          <a:prstGeom prst="ellipse">
            <a:avLst/>
          </a:prstGeom>
          <a:solidFill>
            <a:schemeClr val="accent2"/>
          </a:solidFill>
          <a:ln w="12700">
            <a:solidFill>
              <a:schemeClr val="bg1"/>
            </a:solidFill>
            <a:prstDash val="solid"/>
          </a:ln>
        </p:spPr>
      </p:sp>
      <p:sp>
        <p:nvSpPr>
          <p:cNvPr id="51" name="Shape 49"/>
          <p:cNvSpPr/>
          <p:nvPr/>
        </p:nvSpPr>
        <p:spPr>
          <a:xfrm>
            <a:off x="5760720" y="3566160"/>
            <a:ext cx="201168" cy="201168"/>
          </a:xfrm>
          <a:prstGeom prst="ellipse">
            <a:avLst/>
          </a:prstGeom>
          <a:solidFill>
            <a:schemeClr val="accent2"/>
          </a:solidFill>
          <a:ln w="12700">
            <a:solidFill>
              <a:schemeClr val="bg1"/>
            </a:solidFill>
            <a:prstDash val="solid"/>
          </a:ln>
        </p:spPr>
      </p:sp>
      <p:sp>
        <p:nvSpPr>
          <p:cNvPr id="52" name="Shape 50"/>
          <p:cNvSpPr/>
          <p:nvPr/>
        </p:nvSpPr>
        <p:spPr>
          <a:xfrm>
            <a:off x="5989320" y="3611880"/>
            <a:ext cx="201168" cy="201168"/>
          </a:xfrm>
          <a:prstGeom prst="ellipse">
            <a:avLst/>
          </a:prstGeom>
          <a:solidFill>
            <a:schemeClr val="accent2"/>
          </a:solidFill>
          <a:ln w="12700">
            <a:solidFill>
              <a:schemeClr val="bg1"/>
            </a:solidFill>
            <a:prstDash val="solid"/>
          </a:ln>
        </p:spPr>
      </p:sp>
      <p:sp>
        <p:nvSpPr>
          <p:cNvPr id="53" name="Shape 51"/>
          <p:cNvSpPr/>
          <p:nvPr/>
        </p:nvSpPr>
        <p:spPr>
          <a:xfrm>
            <a:off x="4023360" y="2011680"/>
            <a:ext cx="3017520" cy="1828800"/>
          </a:xfrm>
          <a:prstGeom prst="line">
            <a:avLst/>
          </a:prstGeom>
          <a:noFill/>
          <a:ln w="101600">
            <a:solidFill>
              <a:schemeClr val="accent4"/>
            </a:solidFill>
            <a:prstDash val="solid"/>
          </a:ln>
        </p:spPr>
      </p:sp>
      <p:sp>
        <p:nvSpPr>
          <p:cNvPr id="54" name="Shape 52"/>
          <p:cNvSpPr/>
          <p:nvPr/>
        </p:nvSpPr>
        <p:spPr>
          <a:xfrm>
            <a:off x="4032504" y="1975104"/>
            <a:ext cx="164592" cy="164592"/>
          </a:xfrm>
          <a:prstGeom prst="ellipse">
            <a:avLst/>
          </a:prstGeom>
          <a:solidFill>
            <a:schemeClr val="accent2"/>
          </a:solidFill>
          <a:ln w="12700">
            <a:solidFill>
              <a:schemeClr val="bg1"/>
            </a:solidFill>
            <a:prstDash val="solid"/>
          </a:ln>
        </p:spPr>
      </p:sp>
      <p:sp>
        <p:nvSpPr>
          <p:cNvPr id="55" name="Shape 53"/>
          <p:cNvSpPr/>
          <p:nvPr/>
        </p:nvSpPr>
        <p:spPr>
          <a:xfrm>
            <a:off x="5038344" y="2587752"/>
            <a:ext cx="164592" cy="164592"/>
          </a:xfrm>
          <a:prstGeom prst="ellipse">
            <a:avLst/>
          </a:prstGeom>
          <a:solidFill>
            <a:schemeClr val="accent2"/>
          </a:solidFill>
          <a:ln w="12700">
            <a:solidFill>
              <a:schemeClr val="bg1"/>
            </a:solidFill>
            <a:prstDash val="solid"/>
          </a:ln>
        </p:spPr>
      </p:sp>
      <p:sp>
        <p:nvSpPr>
          <p:cNvPr id="56" name="Shape 54"/>
          <p:cNvSpPr/>
          <p:nvPr/>
        </p:nvSpPr>
        <p:spPr>
          <a:xfrm>
            <a:off x="6044184" y="3191256"/>
            <a:ext cx="164592" cy="164592"/>
          </a:xfrm>
          <a:prstGeom prst="ellipse">
            <a:avLst/>
          </a:prstGeom>
          <a:solidFill>
            <a:schemeClr val="accent2"/>
          </a:solidFill>
          <a:ln w="12700">
            <a:solidFill>
              <a:schemeClr val="bg1"/>
            </a:solidFill>
            <a:prstDash val="solid"/>
          </a:ln>
        </p:spPr>
      </p:sp>
      <p:sp>
        <p:nvSpPr>
          <p:cNvPr id="57" name="Shape 55"/>
          <p:cNvSpPr/>
          <p:nvPr/>
        </p:nvSpPr>
        <p:spPr>
          <a:xfrm>
            <a:off x="4572000" y="1783080"/>
            <a:ext cx="1645920" cy="0"/>
          </a:xfrm>
          <a:prstGeom prst="line">
            <a:avLst/>
          </a:prstGeom>
          <a:noFill/>
          <a:ln w="38100">
            <a:solidFill>
              <a:schemeClr val="accent1"/>
            </a:solidFill>
            <a:prstDash val="solid"/>
            <a:tailEnd type="triangle"/>
          </a:ln>
        </p:spPr>
      </p:sp>
      <p:sp>
        <p:nvSpPr>
          <p:cNvPr id="58" name="Text 56"/>
          <p:cNvSpPr txBox="1"/>
          <p:nvPr/>
        </p:nvSpPr>
        <p:spPr>
          <a:xfrm>
            <a:off x="4572000" y="1572768"/>
            <a:ext cx="1645920" cy="201168"/>
          </a:xfrm>
          <a:prstGeom prst="rect">
            <a:avLst/>
          </a:prstGeom>
          <a:noFill/>
          <a:ln/>
        </p:spPr>
        <p:txBody>
          <a:bodyPr wrap="square" lIns="0" tIns="0" rIns="0" bIns="0" rtlCol="0" anchor="t"/>
          <a:lstStyle/>
          <a:p>
            <a:pPr indent="0" marL="0">
              <a:buNone/>
            </a:pPr>
            <a:r>
              <a:rPr lang="en-US" sz="1000" dirty="0">
                <a:solidFill>
                  <a:schemeClr val="accent5"/>
                </a:solidFill>
              </a:rPr>
              <a:t>clean flow to intake</a:t>
            </a:r>
            <a:endParaRPr lang="en-US" sz="1000" dirty="0"/>
          </a:p>
        </p:txBody>
      </p:sp>
      <p:sp>
        <p:nvSpPr>
          <p:cNvPr id="59" name="Shape 57"/>
          <p:cNvSpPr/>
          <p:nvPr/>
        </p:nvSpPr>
        <p:spPr>
          <a:xfrm>
            <a:off x="6400800" y="2011680"/>
            <a:ext cx="1463040" cy="1051560"/>
          </a:xfrm>
          <a:prstGeom prst="roundRect">
            <a:avLst>
              <a:gd name="adj" fmla="val 8696"/>
            </a:avLst>
          </a:prstGeom>
          <a:solidFill>
            <a:schemeClr val="tx1"/>
          </a:solidFill>
          <a:ln/>
        </p:spPr>
      </p:sp>
      <p:sp>
        <p:nvSpPr>
          <p:cNvPr id="60" name="Text 58"/>
          <p:cNvSpPr txBox="1"/>
          <p:nvPr/>
        </p:nvSpPr>
        <p:spPr>
          <a:xfrm>
            <a:off x="6492240" y="2011680"/>
            <a:ext cx="1280160" cy="1051560"/>
          </a:xfrm>
          <a:prstGeom prst="rect">
            <a:avLst/>
          </a:prstGeom>
          <a:noFill/>
          <a:ln/>
        </p:spPr>
        <p:txBody>
          <a:bodyPr wrap="square" lIns="0" tIns="0" rIns="0" bIns="0" rtlCol="0" anchor="ctr"/>
          <a:lstStyle/>
          <a:p>
            <a:pPr algn="ctr" indent="0" marL="0">
              <a:buNone/>
            </a:pPr>
            <a:r>
              <a:rPr lang="en-US" sz="1200" b="1" dirty="0">
                <a:solidFill>
                  <a:schemeClr val="bg1"/>
                </a:solidFill>
              </a:rPr>
              <a:t>PLANT INTAKE</a:t>
            </a:r>
            <a:endParaRPr lang="en-US" sz="1200" dirty="0"/>
          </a:p>
          <a:p>
            <a:pPr algn="ctr" indent="0" marL="0">
              <a:buNone/>
            </a:pPr>
            <a:r>
              <a:rPr lang="en-US" sz="1100" dirty="0">
                <a:solidFill>
                  <a:schemeClr val="bg1"/>
                </a:solidFill>
              </a:rPr>
              <a:t>existing screens stay as backup</a:t>
            </a:r>
            <a:endParaRPr lang="en-US" sz="1200" dirty="0"/>
          </a:p>
        </p:txBody>
      </p:sp>
      <p:sp>
        <p:nvSpPr>
          <p:cNvPr id="61" name="Shape 59"/>
          <p:cNvSpPr/>
          <p:nvPr/>
        </p:nvSpPr>
        <p:spPr>
          <a:xfrm>
            <a:off x="6400800" y="4069080"/>
            <a:ext cx="1463040" cy="1097280"/>
          </a:xfrm>
          <a:prstGeom prst="roundRect">
            <a:avLst>
              <a:gd name="adj" fmla="val 8333"/>
            </a:avLst>
          </a:prstGeom>
          <a:solidFill>
            <a:schemeClr val="accent1"/>
          </a:solidFill>
          <a:ln/>
        </p:spPr>
      </p:sp>
      <p:sp>
        <p:nvSpPr>
          <p:cNvPr id="62" name="Text 60"/>
          <p:cNvSpPr txBox="1"/>
          <p:nvPr/>
        </p:nvSpPr>
        <p:spPr>
          <a:xfrm>
            <a:off x="6492240" y="4069080"/>
            <a:ext cx="1280160" cy="1097280"/>
          </a:xfrm>
          <a:prstGeom prst="rect">
            <a:avLst/>
          </a:prstGeom>
          <a:noFill/>
          <a:ln/>
        </p:spPr>
        <p:txBody>
          <a:bodyPr wrap="square" lIns="0" tIns="0" rIns="0" bIns="0" rtlCol="0" anchor="ctr"/>
          <a:lstStyle/>
          <a:p>
            <a:pPr algn="ctr" indent="0" marL="0">
              <a:buNone/>
            </a:pPr>
            <a:r>
              <a:rPr lang="en-US" sz="1200" b="1" dirty="0">
                <a:solidFill>
                  <a:schemeClr val="bg1"/>
                </a:solidFill>
              </a:rPr>
              <a:t>COLLECTION POINT</a:t>
            </a:r>
            <a:endParaRPr lang="en-US" sz="1200" dirty="0"/>
          </a:p>
          <a:p>
            <a:pPr algn="ctr" indent="0" marL="0">
              <a:buNone/>
            </a:pPr>
            <a:r>
              <a:rPr lang="en-US" sz="1100" dirty="0">
                <a:solidFill>
                  <a:schemeClr val="bg1"/>
                </a:solidFill>
              </a:rPr>
              <a:t>pump to holding tank, then release</a:t>
            </a:r>
            <a:endParaRPr lang="en-US" sz="1200" dirty="0"/>
          </a:p>
        </p:txBody>
      </p:sp>
      <p:sp>
        <p:nvSpPr>
          <p:cNvPr id="63" name="Shape 61"/>
          <p:cNvSpPr/>
          <p:nvPr/>
        </p:nvSpPr>
        <p:spPr>
          <a:xfrm>
            <a:off x="2651760" y="1572768"/>
            <a:ext cx="365760" cy="365760"/>
          </a:xfrm>
          <a:prstGeom prst="ellipse">
            <a:avLst/>
          </a:prstGeom>
          <a:solidFill>
            <a:schemeClr val="accent1"/>
          </a:solidFill>
          <a:ln w="19050">
            <a:solidFill>
              <a:schemeClr val="bg1"/>
            </a:solidFill>
            <a:prstDash val="solid"/>
          </a:ln>
        </p:spPr>
      </p:sp>
      <p:sp>
        <p:nvSpPr>
          <p:cNvPr id="64" name="Text 62"/>
          <p:cNvSpPr txBox="1"/>
          <p:nvPr/>
        </p:nvSpPr>
        <p:spPr>
          <a:xfrm>
            <a:off x="2651760" y="15727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5" name="Shape 63"/>
          <p:cNvSpPr/>
          <p:nvPr/>
        </p:nvSpPr>
        <p:spPr>
          <a:xfrm>
            <a:off x="3840480" y="1737360"/>
            <a:ext cx="365760" cy="365760"/>
          </a:xfrm>
          <a:prstGeom prst="ellipse">
            <a:avLst/>
          </a:prstGeom>
          <a:solidFill>
            <a:schemeClr val="accent5"/>
          </a:solidFill>
          <a:ln w="19050">
            <a:solidFill>
              <a:schemeClr val="bg1"/>
            </a:solidFill>
            <a:prstDash val="solid"/>
          </a:ln>
        </p:spPr>
      </p:sp>
      <p:sp>
        <p:nvSpPr>
          <p:cNvPr id="66" name="Text 64"/>
          <p:cNvSpPr txBox="1"/>
          <p:nvPr/>
        </p:nvSpPr>
        <p:spPr>
          <a:xfrm>
            <a:off x="3840480" y="17373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67" name="Shape 65"/>
          <p:cNvSpPr/>
          <p:nvPr/>
        </p:nvSpPr>
        <p:spPr>
          <a:xfrm>
            <a:off x="5120640" y="2103120"/>
            <a:ext cx="1005840" cy="457200"/>
          </a:xfrm>
          <a:prstGeom prst="roundRect">
            <a:avLst>
              <a:gd name="adj" fmla="val 20000"/>
            </a:avLst>
          </a:prstGeom>
          <a:solidFill>
            <a:schemeClr val="accent2"/>
          </a:solidFill>
          <a:ln/>
        </p:spPr>
      </p:sp>
      <p:sp>
        <p:nvSpPr>
          <p:cNvPr id="68" name="Text 66"/>
          <p:cNvSpPr txBox="1"/>
          <p:nvPr/>
        </p:nvSpPr>
        <p:spPr>
          <a:xfrm>
            <a:off x="5120640" y="2103120"/>
            <a:ext cx="1005840" cy="457200"/>
          </a:xfrm>
          <a:prstGeom prst="rect">
            <a:avLst/>
          </a:prstGeom>
          <a:noFill/>
          <a:ln/>
        </p:spPr>
        <p:txBody>
          <a:bodyPr wrap="square" lIns="0" tIns="0" rIns="0" bIns="0" rtlCol="0" anchor="ctr"/>
          <a:lstStyle/>
          <a:p>
            <a:pPr algn="ctr" indent="0" marL="0">
              <a:buNone/>
            </a:pPr>
            <a:r>
              <a:rPr lang="en-US" sz="1000" b="1" dirty="0">
                <a:solidFill>
                  <a:schemeClr val="bg1"/>
                </a:solidFill>
              </a:rPr>
              <a:t>CREW + NETS</a:t>
            </a:r>
            <a:endParaRPr lang="en-US" sz="1000" dirty="0"/>
          </a:p>
        </p:txBody>
      </p:sp>
      <p:sp>
        <p:nvSpPr>
          <p:cNvPr id="69" name="Shape 67"/>
          <p:cNvSpPr/>
          <p:nvPr/>
        </p:nvSpPr>
        <p:spPr>
          <a:xfrm>
            <a:off x="6217920" y="3886200"/>
            <a:ext cx="365760" cy="365760"/>
          </a:xfrm>
          <a:prstGeom prst="ellipse">
            <a:avLst/>
          </a:prstGeom>
          <a:solidFill>
            <a:schemeClr val="accent1"/>
          </a:solidFill>
          <a:ln w="19050">
            <a:solidFill>
              <a:schemeClr val="bg1"/>
            </a:solidFill>
            <a:prstDash val="solid"/>
          </a:ln>
        </p:spPr>
      </p:sp>
      <p:sp>
        <p:nvSpPr>
          <p:cNvPr id="70" name="Text 68"/>
          <p:cNvSpPr txBox="1"/>
          <p:nvPr/>
        </p:nvSpPr>
        <p:spPr>
          <a:xfrm>
            <a:off x="6217920" y="388620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71" name="Shape 69"/>
          <p:cNvSpPr/>
          <p:nvPr/>
        </p:nvSpPr>
        <p:spPr>
          <a:xfrm>
            <a:off x="4956048" y="1938528"/>
            <a:ext cx="329184" cy="329184"/>
          </a:xfrm>
          <a:prstGeom prst="ellipse">
            <a:avLst/>
          </a:prstGeom>
          <a:solidFill>
            <a:schemeClr val="accent2"/>
          </a:solidFill>
          <a:ln w="19050">
            <a:solidFill>
              <a:schemeClr val="bg1"/>
            </a:solidFill>
            <a:prstDash val="solid"/>
          </a:ln>
        </p:spPr>
      </p:sp>
      <p:sp>
        <p:nvSpPr>
          <p:cNvPr id="72" name="Text 70"/>
          <p:cNvSpPr txBox="1"/>
          <p:nvPr/>
        </p:nvSpPr>
        <p:spPr>
          <a:xfrm>
            <a:off x="4956048" y="19385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73" name="Shape 71"/>
          <p:cNvSpPr/>
          <p:nvPr/>
        </p:nvSpPr>
        <p:spPr>
          <a:xfrm>
            <a:off x="6217920" y="1783080"/>
            <a:ext cx="365760" cy="365760"/>
          </a:xfrm>
          <a:prstGeom prst="ellipse">
            <a:avLst/>
          </a:prstGeom>
          <a:solidFill>
            <a:schemeClr val="tx1"/>
          </a:solidFill>
          <a:ln w="19050">
            <a:solidFill>
              <a:schemeClr val="bg1"/>
            </a:solidFill>
            <a:prstDash val="solid"/>
          </a:ln>
        </p:spPr>
      </p:sp>
      <p:sp>
        <p:nvSpPr>
          <p:cNvPr id="74" name="Text 72"/>
          <p:cNvSpPr txBox="1"/>
          <p:nvPr/>
        </p:nvSpPr>
        <p:spPr>
          <a:xfrm>
            <a:off x="6217920" y="17830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75" name="Shape 73"/>
          <p:cNvSpPr/>
          <p:nvPr/>
        </p:nvSpPr>
        <p:spPr>
          <a:xfrm>
            <a:off x="8229600" y="1508760"/>
            <a:ext cx="365760" cy="365760"/>
          </a:xfrm>
          <a:prstGeom prst="ellipse">
            <a:avLst/>
          </a:prstGeom>
          <a:solidFill>
            <a:schemeClr val="accent1"/>
          </a:solidFill>
          <a:ln w="19050">
            <a:solidFill>
              <a:schemeClr val="bg1"/>
            </a:solidFill>
            <a:prstDash val="solid"/>
          </a:ln>
        </p:spPr>
      </p:sp>
      <p:sp>
        <p:nvSpPr>
          <p:cNvPr id="76" name="Text 74"/>
          <p:cNvSpPr txBox="1"/>
          <p:nvPr/>
        </p:nvSpPr>
        <p:spPr>
          <a:xfrm>
            <a:off x="8229600" y="15087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7" name="Text 75"/>
          <p:cNvSpPr txBox="1"/>
          <p:nvPr/>
        </p:nvSpPr>
        <p:spPr>
          <a:xfrm>
            <a:off x="8732520" y="1490472"/>
            <a:ext cx="2880360" cy="274320"/>
          </a:xfrm>
          <a:prstGeom prst="rect">
            <a:avLst/>
          </a:prstGeom>
          <a:noFill/>
          <a:ln/>
        </p:spPr>
        <p:txBody>
          <a:bodyPr wrap="square" lIns="0" tIns="0" rIns="0" bIns="0" rtlCol="0" anchor="t"/>
          <a:lstStyle/>
          <a:p>
            <a:pPr indent="0" marL="0">
              <a:buNone/>
            </a:pPr>
            <a:r>
              <a:rPr lang="en-US" sz="1500" b="1" dirty="0">
                <a:solidFill>
                  <a:schemeClr val="accent1"/>
                </a:solidFill>
              </a:rPr>
              <a:t>Bubble curtain</a:t>
            </a:r>
            <a:endParaRPr lang="en-US" sz="1500" dirty="0"/>
          </a:p>
        </p:txBody>
      </p:sp>
      <p:sp>
        <p:nvSpPr>
          <p:cNvPr id="78" name="Text 76"/>
          <p:cNvSpPr txBox="1"/>
          <p:nvPr/>
        </p:nvSpPr>
        <p:spPr>
          <a:xfrm>
            <a:off x="8732520" y="1764792"/>
            <a:ext cx="2880360" cy="457200"/>
          </a:xfrm>
          <a:prstGeom prst="rect">
            <a:avLst/>
          </a:prstGeom>
          <a:noFill/>
          <a:ln/>
        </p:spPr>
        <p:txBody>
          <a:bodyPr wrap="square" lIns="0" tIns="0" rIns="0" bIns="0" rtlCol="0" anchor="t"/>
          <a:lstStyle/>
          <a:p>
            <a:pPr indent="0" marL="0">
              <a:buNone/>
            </a:pPr>
            <a:r>
              <a:rPr lang="en-US" sz="1400" dirty="0">
                <a:solidFill>
                  <a:schemeClr val="tx1"/>
                </a:solidFill>
              </a:rPr>
              <a:t>Seabed air hose lifts drifting jellyfish to the surface.</a:t>
            </a:r>
            <a:endParaRPr lang="en-US" sz="1400" dirty="0"/>
          </a:p>
        </p:txBody>
      </p:sp>
      <p:sp>
        <p:nvSpPr>
          <p:cNvPr id="79" name="Shape 77"/>
          <p:cNvSpPr/>
          <p:nvPr/>
        </p:nvSpPr>
        <p:spPr>
          <a:xfrm>
            <a:off x="8229600" y="2295144"/>
            <a:ext cx="365760" cy="365760"/>
          </a:xfrm>
          <a:prstGeom prst="ellipse">
            <a:avLst/>
          </a:prstGeom>
          <a:solidFill>
            <a:schemeClr val="accent5"/>
          </a:solidFill>
          <a:ln w="19050">
            <a:solidFill>
              <a:schemeClr val="bg1"/>
            </a:solidFill>
            <a:prstDash val="solid"/>
          </a:ln>
        </p:spPr>
      </p:sp>
      <p:sp>
        <p:nvSpPr>
          <p:cNvPr id="80" name="Text 78"/>
          <p:cNvSpPr txBox="1"/>
          <p:nvPr/>
        </p:nvSpPr>
        <p:spPr>
          <a:xfrm>
            <a:off x="8229600" y="22951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1" name="Text 79"/>
          <p:cNvSpPr txBox="1"/>
          <p:nvPr/>
        </p:nvSpPr>
        <p:spPr>
          <a:xfrm>
            <a:off x="8732520" y="2276856"/>
            <a:ext cx="2880360" cy="274320"/>
          </a:xfrm>
          <a:prstGeom prst="rect">
            <a:avLst/>
          </a:prstGeom>
          <a:noFill/>
          <a:ln/>
        </p:spPr>
        <p:txBody>
          <a:bodyPr wrap="square" lIns="0" tIns="0" rIns="0" bIns="0" rtlCol="0" anchor="t"/>
          <a:lstStyle/>
          <a:p>
            <a:pPr indent="0" marL="0">
              <a:buNone/>
            </a:pPr>
            <a:r>
              <a:rPr lang="en-US" sz="1500" b="1" dirty="0">
                <a:solidFill>
                  <a:schemeClr val="accent5"/>
                </a:solidFill>
              </a:rPr>
              <a:t>Angled boom</a:t>
            </a:r>
            <a:endParaRPr lang="en-US" sz="1500" dirty="0"/>
          </a:p>
        </p:txBody>
      </p:sp>
      <p:sp>
        <p:nvSpPr>
          <p:cNvPr id="82" name="Text 80"/>
          <p:cNvSpPr txBox="1"/>
          <p:nvPr/>
        </p:nvSpPr>
        <p:spPr>
          <a:xfrm>
            <a:off x="8732520" y="2551176"/>
            <a:ext cx="2880360" cy="457200"/>
          </a:xfrm>
          <a:prstGeom prst="rect">
            <a:avLst/>
          </a:prstGeom>
          <a:noFill/>
          <a:ln/>
        </p:spPr>
        <p:txBody>
          <a:bodyPr wrap="square" lIns="0" tIns="0" rIns="0" bIns="0" rtlCol="0" anchor="t"/>
          <a:lstStyle/>
          <a:p>
            <a:pPr indent="0" marL="0">
              <a:buNone/>
            </a:pPr>
            <a:r>
              <a:rPr lang="en-US" sz="1400" dirty="0">
                <a:solidFill>
                  <a:schemeClr val="tx1"/>
                </a:solidFill>
              </a:rPr>
              <a:t>Guides them along its face to one collection point.</a:t>
            </a:r>
            <a:endParaRPr lang="en-US" sz="1400" dirty="0"/>
          </a:p>
        </p:txBody>
      </p:sp>
      <p:sp>
        <p:nvSpPr>
          <p:cNvPr id="83" name="Shape 81"/>
          <p:cNvSpPr/>
          <p:nvPr/>
        </p:nvSpPr>
        <p:spPr>
          <a:xfrm>
            <a:off x="8229600" y="3081528"/>
            <a:ext cx="365760" cy="365760"/>
          </a:xfrm>
          <a:prstGeom prst="ellipse">
            <a:avLst/>
          </a:prstGeom>
          <a:solidFill>
            <a:schemeClr val="accent1"/>
          </a:solidFill>
          <a:ln w="19050">
            <a:solidFill>
              <a:schemeClr val="bg1"/>
            </a:solidFill>
            <a:prstDash val="solid"/>
          </a:ln>
        </p:spPr>
      </p:sp>
      <p:sp>
        <p:nvSpPr>
          <p:cNvPr id="84" name="Text 82"/>
          <p:cNvSpPr txBox="1"/>
          <p:nvPr/>
        </p:nvSpPr>
        <p:spPr>
          <a:xfrm>
            <a:off x="8229600" y="30815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85" name="Text 83"/>
          <p:cNvSpPr txBox="1"/>
          <p:nvPr/>
        </p:nvSpPr>
        <p:spPr>
          <a:xfrm>
            <a:off x="8732520" y="3063240"/>
            <a:ext cx="2880360" cy="274320"/>
          </a:xfrm>
          <a:prstGeom prst="rect">
            <a:avLst/>
          </a:prstGeom>
          <a:noFill/>
          <a:ln/>
        </p:spPr>
        <p:txBody>
          <a:bodyPr wrap="square" lIns="0" tIns="0" rIns="0" bIns="0" rtlCol="0" anchor="t"/>
          <a:lstStyle/>
          <a:p>
            <a:pPr indent="0" marL="0">
              <a:buNone/>
            </a:pPr>
            <a:r>
              <a:rPr lang="en-US" sz="1500" b="1" dirty="0">
                <a:solidFill>
                  <a:schemeClr val="accent1"/>
                </a:solidFill>
              </a:rPr>
              <a:t>Collection point</a:t>
            </a:r>
            <a:endParaRPr lang="en-US" sz="1500" dirty="0"/>
          </a:p>
        </p:txBody>
      </p:sp>
      <p:sp>
        <p:nvSpPr>
          <p:cNvPr id="86" name="Text 84"/>
          <p:cNvSpPr txBox="1"/>
          <p:nvPr/>
        </p:nvSpPr>
        <p:spPr>
          <a:xfrm>
            <a:off x="8732520" y="3337560"/>
            <a:ext cx="2880360" cy="457200"/>
          </a:xfrm>
          <a:prstGeom prst="rect">
            <a:avLst/>
          </a:prstGeom>
          <a:noFill/>
          <a:ln/>
        </p:spPr>
        <p:txBody>
          <a:bodyPr wrap="square" lIns="0" tIns="0" rIns="0" bIns="0" rtlCol="0" anchor="t"/>
          <a:lstStyle/>
          <a:p>
            <a:pPr indent="0" marL="0">
              <a:buNone/>
            </a:pPr>
            <a:r>
              <a:rPr lang="en-US" sz="1400" dirty="0">
                <a:solidFill>
                  <a:schemeClr val="tx1"/>
                </a:solidFill>
              </a:rPr>
              <a:t>Gentle pump to a holding tank, then supervised release.</a:t>
            </a:r>
            <a:endParaRPr lang="en-US" sz="1400" dirty="0"/>
          </a:p>
        </p:txBody>
      </p:sp>
      <p:sp>
        <p:nvSpPr>
          <p:cNvPr id="87" name="Shape 85"/>
          <p:cNvSpPr/>
          <p:nvPr/>
        </p:nvSpPr>
        <p:spPr>
          <a:xfrm>
            <a:off x="8229600" y="3867912"/>
            <a:ext cx="365760" cy="365760"/>
          </a:xfrm>
          <a:prstGeom prst="ellipse">
            <a:avLst/>
          </a:prstGeom>
          <a:solidFill>
            <a:schemeClr val="accent2"/>
          </a:solidFill>
          <a:ln w="19050">
            <a:solidFill>
              <a:schemeClr val="bg1"/>
            </a:solidFill>
            <a:prstDash val="solid"/>
          </a:ln>
        </p:spPr>
      </p:sp>
      <p:sp>
        <p:nvSpPr>
          <p:cNvPr id="88" name="Text 86"/>
          <p:cNvSpPr txBox="1"/>
          <p:nvPr/>
        </p:nvSpPr>
        <p:spPr>
          <a:xfrm>
            <a:off x="8229600" y="386791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89" name="Text 87"/>
          <p:cNvSpPr txBox="1"/>
          <p:nvPr/>
        </p:nvSpPr>
        <p:spPr>
          <a:xfrm>
            <a:off x="8732520" y="3849624"/>
            <a:ext cx="2880360" cy="274320"/>
          </a:xfrm>
          <a:prstGeom prst="rect">
            <a:avLst/>
          </a:prstGeom>
          <a:noFill/>
          <a:ln/>
        </p:spPr>
        <p:txBody>
          <a:bodyPr wrap="square" lIns="0" tIns="0" rIns="0" bIns="0" rtlCol="0" anchor="t"/>
          <a:lstStyle/>
          <a:p>
            <a:pPr indent="0" marL="0">
              <a:buNone/>
            </a:pPr>
            <a:r>
              <a:rPr lang="en-US" sz="1500" b="1" dirty="0">
                <a:solidFill>
                  <a:schemeClr val="accent2"/>
                </a:solidFill>
              </a:rPr>
              <a:t>Layer 3: manual catch</a:t>
            </a:r>
            <a:endParaRPr lang="en-US" sz="1500" dirty="0"/>
          </a:p>
        </p:txBody>
      </p:sp>
      <p:sp>
        <p:nvSpPr>
          <p:cNvPr id="90" name="Text 88"/>
          <p:cNvSpPr txBox="1"/>
          <p:nvPr/>
        </p:nvSpPr>
        <p:spPr>
          <a:xfrm>
            <a:off x="8732520" y="4123944"/>
            <a:ext cx="2880360" cy="457200"/>
          </a:xfrm>
          <a:prstGeom prst="rect">
            <a:avLst/>
          </a:prstGeom>
          <a:noFill/>
          <a:ln/>
        </p:spPr>
        <p:txBody>
          <a:bodyPr wrap="square" lIns="0" tIns="0" rIns="0" bIns="0" rtlCol="0" anchor="t"/>
          <a:lstStyle/>
          <a:p>
            <a:pPr indent="0" marL="0">
              <a:buNone/>
            </a:pPr>
            <a:r>
              <a:rPr lang="en-US" sz="1400" dirty="0">
                <a:solidFill>
                  <a:schemeClr val="tx1"/>
                </a:solidFill>
              </a:rPr>
              <a:t>A small crew with dip nets clears any rare straggler.</a:t>
            </a:r>
            <a:endParaRPr lang="en-US" sz="1400" dirty="0"/>
          </a:p>
        </p:txBody>
      </p:sp>
      <p:sp>
        <p:nvSpPr>
          <p:cNvPr id="91" name="Shape 89"/>
          <p:cNvSpPr/>
          <p:nvPr/>
        </p:nvSpPr>
        <p:spPr>
          <a:xfrm>
            <a:off x="8229600" y="4654296"/>
            <a:ext cx="365760" cy="365760"/>
          </a:xfrm>
          <a:prstGeom prst="ellipse">
            <a:avLst/>
          </a:prstGeom>
          <a:solidFill>
            <a:schemeClr val="tx1"/>
          </a:solidFill>
          <a:ln w="19050">
            <a:solidFill>
              <a:schemeClr val="bg1"/>
            </a:solidFill>
            <a:prstDash val="solid"/>
          </a:ln>
        </p:spPr>
      </p:sp>
      <p:sp>
        <p:nvSpPr>
          <p:cNvPr id="92" name="Text 90"/>
          <p:cNvSpPr txBox="1"/>
          <p:nvPr/>
        </p:nvSpPr>
        <p:spPr>
          <a:xfrm>
            <a:off x="8229600" y="465429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93" name="Text 91"/>
          <p:cNvSpPr txBox="1"/>
          <p:nvPr/>
        </p:nvSpPr>
        <p:spPr>
          <a:xfrm>
            <a:off x="8732520" y="4636008"/>
            <a:ext cx="2880360" cy="274320"/>
          </a:xfrm>
          <a:prstGeom prst="rect">
            <a:avLst/>
          </a:prstGeom>
          <a:noFill/>
          <a:ln/>
        </p:spPr>
        <p:txBody>
          <a:bodyPr wrap="square" lIns="0" tIns="0" rIns="0" bIns="0" rtlCol="0" anchor="t"/>
          <a:lstStyle/>
          <a:p>
            <a:pPr indent="0" marL="0">
              <a:buNone/>
            </a:pPr>
            <a:r>
              <a:rPr lang="en-US" sz="1500" b="1" dirty="0">
                <a:solidFill>
                  <a:schemeClr val="tx1"/>
                </a:solidFill>
              </a:rPr>
              <a:t>Intake stays as is</a:t>
            </a:r>
            <a:endParaRPr lang="en-US" sz="1500" dirty="0"/>
          </a:p>
        </p:txBody>
      </p:sp>
      <p:sp>
        <p:nvSpPr>
          <p:cNvPr id="94" name="Text 92"/>
          <p:cNvSpPr txBox="1"/>
          <p:nvPr/>
        </p:nvSpPr>
        <p:spPr>
          <a:xfrm>
            <a:off x="8732520" y="4910328"/>
            <a:ext cx="2880360" cy="457200"/>
          </a:xfrm>
          <a:prstGeom prst="rect">
            <a:avLst/>
          </a:prstGeom>
          <a:noFill/>
          <a:ln/>
        </p:spPr>
        <p:txBody>
          <a:bodyPr wrap="square" lIns="0" tIns="0" rIns="0" bIns="0" rtlCol="0" anchor="t"/>
          <a:lstStyle/>
          <a:p>
            <a:pPr indent="0" marL="0">
              <a:buNone/>
            </a:pPr>
            <a:r>
              <a:rPr lang="en-US" sz="1400" dirty="0">
                <a:solidFill>
                  <a:schemeClr val="tx1"/>
                </a:solidFill>
              </a:rPr>
              <a:t>Existing screens remain the last line of defense.</a:t>
            </a:r>
            <a:endParaRPr lang="en-US" sz="1400" dirty="0"/>
          </a:p>
        </p:txBody>
      </p:sp>
      <p:sp>
        <p:nvSpPr>
          <p:cNvPr id="95" name="Shape 93"/>
          <p:cNvSpPr/>
          <p:nvPr/>
        </p:nvSpPr>
        <p:spPr>
          <a:xfrm>
            <a:off x="8229600" y="5486400"/>
            <a:ext cx="3383280" cy="411480"/>
          </a:xfrm>
          <a:prstGeom prst="roundRect">
            <a:avLst>
              <a:gd name="adj" fmla="val 22222"/>
            </a:avLst>
          </a:prstGeom>
          <a:solidFill>
            <a:schemeClr val="bg1"/>
          </a:solidFill>
          <a:ln w="25400">
            <a:solidFill>
              <a:schemeClr val="accent1"/>
            </a:solidFill>
            <a:prstDash val="solid"/>
          </a:ln>
        </p:spPr>
      </p:sp>
      <p:sp>
        <p:nvSpPr>
          <p:cNvPr id="96" name="Text 94"/>
          <p:cNvSpPr txBox="1"/>
          <p:nvPr/>
        </p:nvSpPr>
        <p:spPr>
          <a:xfrm>
            <a:off x="8229600" y="5486400"/>
            <a:ext cx="3383280" cy="411480"/>
          </a:xfrm>
          <a:prstGeom prst="rect">
            <a:avLst/>
          </a:prstGeom>
          <a:noFill/>
          <a:ln/>
        </p:spPr>
        <p:txBody>
          <a:bodyPr wrap="square" lIns="0" tIns="0" rIns="0" bIns="0" rtlCol="0" anchor="ctr"/>
          <a:lstStyle/>
          <a:p>
            <a:pPr algn="ctr" indent="0" marL="0">
              <a:buNone/>
            </a:pPr>
            <a:r>
              <a:rPr lang="en-US" sz="1300" b="1" dirty="0">
                <a:solidFill>
                  <a:schemeClr val="accent1"/>
                </a:solidFill>
              </a:rPr>
              <a:t>Control software adapts layers 1 and 2</a:t>
            </a:r>
            <a:endParaRPr lang="en-US" sz="1300" dirty="0"/>
          </a:p>
        </p:txBody>
      </p:sp>
      <p:sp>
        <p:nvSpPr>
          <p:cNvPr id="97" name="Text 95"/>
          <p:cNvSpPr txBox="1"/>
          <p:nvPr/>
        </p:nvSpPr>
        <p:spPr>
          <a:xfrm>
            <a:off x="548640" y="5806440"/>
            <a:ext cx="7406640" cy="274320"/>
          </a:xfrm>
          <a:prstGeom prst="rect">
            <a:avLst/>
          </a:prstGeom>
          <a:noFill/>
          <a:ln/>
        </p:spPr>
        <p:txBody>
          <a:bodyPr wrap="square" lIns="0" tIns="0" rIns="0" bIns="0" rtlCol="0" anchor="t"/>
          <a:lstStyle/>
          <a:p>
            <a:pPr indent="0" marL="0">
              <a:buNone/>
            </a:pPr>
            <a:r>
              <a:rPr lang="en-US" sz="1100" dirty="0">
                <a:solidFill>
                  <a:schemeClr val="accent5"/>
                </a:solidFill>
              </a:rPr>
              <a:t>Schematic top view, not to scale. Boom angle, curtain length and crew station need site data.</a:t>
            </a:r>
            <a:endParaRPr lang="en-US" sz="11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04  |  PROVEN BUILDING BLOCKS</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Each layer is already used in the field</a:t>
            </a:r>
            <a:endParaRPr lang="en-US" sz="2800" dirty="0"/>
          </a:p>
        </p:txBody>
      </p:sp>
      <p:pic>
        <p:nvPicPr>
          <p:cNvPr id="4" name="Image 0" descr="Underwater bubble curtain rising from a seabed hose">    </p:cNvPr>
          <p:cNvPicPr>
            <a:picLocks noChangeAspect="1"/>
          </p:cNvPicPr>
          <p:nvPr/>
        </p:nvPicPr>
        <p:blipFill>
          <a:blip r:embed="rId1"/>
          <a:stretch>
            <a:fillRect/>
          </a:stretch>
        </p:blipFill>
        <p:spPr>
          <a:xfrm>
            <a:off x="548640" y="1508760"/>
            <a:ext cx="3200400" cy="2103120"/>
          </a:xfrm>
          <a:prstGeom prst="rect">
            <a:avLst/>
          </a:prstGeom>
        </p:spPr>
      </p:pic>
      <p:sp>
        <p:nvSpPr>
          <p:cNvPr id="5" name="Shape 2"/>
          <p:cNvSpPr/>
          <p:nvPr/>
        </p:nvSpPr>
        <p:spPr>
          <a:xfrm>
            <a:off x="685800" y="1645920"/>
            <a:ext cx="384048" cy="384048"/>
          </a:xfrm>
          <a:prstGeom prst="ellipse">
            <a:avLst/>
          </a:prstGeom>
          <a:solidFill>
            <a:schemeClr val="accent1"/>
          </a:solidFill>
          <a:ln w="19050">
            <a:solidFill>
              <a:schemeClr val="bg1"/>
            </a:solidFill>
            <a:prstDash val="solid"/>
          </a:ln>
        </p:spPr>
      </p:sp>
      <p:sp>
        <p:nvSpPr>
          <p:cNvPr id="6" name="Text 3"/>
          <p:cNvSpPr txBox="1"/>
          <p:nvPr/>
        </p:nvSpPr>
        <p:spPr>
          <a:xfrm>
            <a:off x="685800" y="16459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Text 4"/>
          <p:cNvSpPr txBox="1"/>
          <p:nvPr/>
        </p:nvSpPr>
        <p:spPr>
          <a:xfrm>
            <a:off x="4023360" y="1490472"/>
            <a:ext cx="7589520" cy="365760"/>
          </a:xfrm>
          <a:prstGeom prst="rect">
            <a:avLst/>
          </a:prstGeom>
          <a:noFill/>
          <a:ln/>
        </p:spPr>
        <p:txBody>
          <a:bodyPr wrap="square" lIns="0" tIns="0" rIns="0" bIns="0" rtlCol="0" anchor="t"/>
          <a:lstStyle/>
          <a:p>
            <a:pPr indent="0" marL="0">
              <a:buNone/>
            </a:pPr>
            <a:r>
              <a:rPr lang="en-US" sz="2000" b="1" dirty="0">
                <a:solidFill>
                  <a:schemeClr val="accent1"/>
                </a:solidFill>
              </a:rPr>
              <a:t>Layer 1  |  Bubble curtain</a:t>
            </a:r>
            <a:endParaRPr lang="en-US" sz="2000" dirty="0"/>
          </a:p>
        </p:txBody>
      </p:sp>
      <p:sp>
        <p:nvSpPr>
          <p:cNvPr id="8" name="Text 5"/>
          <p:cNvSpPr txBox="1"/>
          <p:nvPr/>
        </p:nvSpPr>
        <p:spPr>
          <a:xfrm>
            <a:off x="4023360" y="1920240"/>
            <a:ext cx="758952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Tasmania: 77% fewer jellyfish in a 12-pen trial, now rolled out to 160+ pens</a:t>
            </a:r>
            <a:endParaRPr lang="en-US" sz="1400" dirty="0"/>
          </a:p>
          <a:p>
            <a:pPr marL="342900" indent="-342900">
              <a:spcAft>
                <a:spcPts val="600"/>
              </a:spcAft>
              <a:buSzPct val="100000"/>
              <a:buChar char="•"/>
            </a:pPr>
            <a:r>
              <a:rPr lang="en-US" sz="1400" dirty="0">
                <a:solidFill>
                  <a:schemeClr val="tx1"/>
                </a:solidFill>
              </a:rPr>
              <a:t>Ireland: an 8 m high-airflow curtain deflected large jellyfish (Haberlin et al., 2021)</a:t>
            </a:r>
            <a:endParaRPr lang="en-US" sz="1400" dirty="0"/>
          </a:p>
          <a:p>
            <a:pPr marL="342900" indent="-342900">
              <a:spcAft>
                <a:spcPts val="600"/>
              </a:spcAft>
              <a:buSzPct val="100000"/>
              <a:buChar char="•"/>
            </a:pPr>
            <a:r>
              <a:rPr lang="en-US" sz="1400" dirty="0">
                <a:solidFill>
                  <a:schemeClr val="tx1"/>
                </a:solidFill>
              </a:rPr>
              <a:t>Chile: 70+ salmon sites, plus power-plant inlets (vendor-reported)</a:t>
            </a:r>
            <a:endParaRPr lang="en-US" sz="1400" dirty="0"/>
          </a:p>
        </p:txBody>
      </p:sp>
      <p:sp>
        <p:nvSpPr>
          <p:cNvPr id="9" name="Text 6"/>
          <p:cNvSpPr txBox="1"/>
          <p:nvPr/>
        </p:nvSpPr>
        <p:spPr>
          <a:xfrm>
            <a:off x="4023360" y="3227832"/>
            <a:ext cx="7589520" cy="365760"/>
          </a:xfrm>
          <a:prstGeom prst="rect">
            <a:avLst/>
          </a:prstGeom>
          <a:noFill/>
          <a:ln/>
        </p:spPr>
        <p:txBody>
          <a:bodyPr wrap="square" lIns="0" tIns="0" rIns="0" bIns="0" rtlCol="0" anchor="t"/>
          <a:lstStyle/>
          <a:p>
            <a:pPr indent="0" marL="0">
              <a:buNone/>
            </a:pPr>
            <a:r>
              <a:rPr lang="en-US" sz="1400" b="1" dirty="0">
                <a:solidFill>
                  <a:schemeClr val="accent2"/>
                </a:solidFill>
              </a:rPr>
              <a:t>Design limit: waves and low airflow let jellyfish through; small fragments pass.</a:t>
            </a:r>
            <a:endParaRPr lang="en-US" sz="1400" dirty="0"/>
          </a:p>
        </p:txBody>
      </p:sp>
      <p:pic>
        <p:nvPicPr>
          <p:cNvPr id="10" name="Image 1" descr="Yellow floating boom with skirt and red buoys">    </p:cNvPr>
          <p:cNvPicPr>
            <a:picLocks noChangeAspect="1"/>
          </p:cNvPicPr>
          <p:nvPr/>
        </p:nvPicPr>
        <p:blipFill>
          <a:blip r:embed="rId2"/>
          <a:stretch>
            <a:fillRect/>
          </a:stretch>
        </p:blipFill>
        <p:spPr>
          <a:xfrm>
            <a:off x="548640" y="3840480"/>
            <a:ext cx="3200400" cy="2103120"/>
          </a:xfrm>
          <a:prstGeom prst="rect">
            <a:avLst/>
          </a:prstGeom>
        </p:spPr>
      </p:pic>
      <p:sp>
        <p:nvSpPr>
          <p:cNvPr id="11" name="Shape 7"/>
          <p:cNvSpPr/>
          <p:nvPr/>
        </p:nvSpPr>
        <p:spPr>
          <a:xfrm>
            <a:off x="685800" y="3977640"/>
            <a:ext cx="384048" cy="384048"/>
          </a:xfrm>
          <a:prstGeom prst="ellipse">
            <a:avLst/>
          </a:prstGeom>
          <a:solidFill>
            <a:schemeClr val="accent5"/>
          </a:solidFill>
          <a:ln w="19050">
            <a:solidFill>
              <a:schemeClr val="bg1"/>
            </a:solidFill>
            <a:prstDash val="solid"/>
          </a:ln>
        </p:spPr>
      </p:sp>
      <p:sp>
        <p:nvSpPr>
          <p:cNvPr id="12" name="Text 8"/>
          <p:cNvSpPr txBox="1"/>
          <p:nvPr/>
        </p:nvSpPr>
        <p:spPr>
          <a:xfrm>
            <a:off x="685800" y="39776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9"/>
          <p:cNvSpPr txBox="1"/>
          <p:nvPr/>
        </p:nvSpPr>
        <p:spPr>
          <a:xfrm>
            <a:off x="4023360" y="3822192"/>
            <a:ext cx="7589520" cy="365760"/>
          </a:xfrm>
          <a:prstGeom prst="rect">
            <a:avLst/>
          </a:prstGeom>
          <a:noFill/>
          <a:ln/>
        </p:spPr>
        <p:txBody>
          <a:bodyPr wrap="square" lIns="0" tIns="0" rIns="0" bIns="0" rtlCol="0" anchor="t"/>
          <a:lstStyle/>
          <a:p>
            <a:pPr indent="0" marL="0">
              <a:buNone/>
            </a:pPr>
            <a:r>
              <a:rPr lang="en-US" sz="2000" b="1" dirty="0">
                <a:solidFill>
                  <a:schemeClr val="accent5"/>
                </a:solidFill>
              </a:rPr>
              <a:t>Layer 2  |  Angled floating boom</a:t>
            </a:r>
            <a:endParaRPr lang="en-US" sz="2000" dirty="0"/>
          </a:p>
        </p:txBody>
      </p:sp>
      <p:sp>
        <p:nvSpPr>
          <p:cNvPr id="14" name="Text 10"/>
          <p:cNvSpPr txBox="1"/>
          <p:nvPr/>
        </p:nvSpPr>
        <p:spPr>
          <a:xfrm>
            <a:off x="4023360" y="4251960"/>
            <a:ext cx="7589520" cy="1234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Flume-based design guidance for debris booms at power-station intakes; bent booms suit the widest flow range</a:t>
            </a:r>
            <a:endParaRPr lang="en-US" sz="1400" dirty="0"/>
          </a:p>
          <a:p>
            <a:pPr marL="342900" indent="-342900">
              <a:spcAft>
                <a:spcPts val="600"/>
              </a:spcAft>
              <a:buSzPct val="100000"/>
              <a:buChar char="•"/>
            </a:pPr>
            <a:r>
              <a:rPr lang="en-US" sz="1400" dirty="0">
                <a:solidFill>
                  <a:schemeClr val="tx1"/>
                </a:solidFill>
              </a:rPr>
              <a:t>Flush-faced booms clear themselves when set at an angle to the current (manufacturer data)</a:t>
            </a:r>
            <a:endParaRPr lang="en-US" sz="1400" dirty="0"/>
          </a:p>
          <a:p>
            <a:pPr marL="342900" indent="-342900">
              <a:spcAft>
                <a:spcPts val="600"/>
              </a:spcAft>
              <a:buSzPct val="100000"/>
              <a:buChar char="•"/>
            </a:pPr>
            <a:r>
              <a:rPr lang="en-US" sz="1400" dirty="0">
                <a:solidFill>
                  <a:schemeClr val="tx1"/>
                </a:solidFill>
              </a:rPr>
              <a:t>Net-skirt booms already keep jellyfish out of desalination intakes (Elastec)</a:t>
            </a:r>
            <a:endParaRPr lang="en-US" sz="1400" dirty="0"/>
          </a:p>
        </p:txBody>
      </p:sp>
      <p:sp>
        <p:nvSpPr>
          <p:cNvPr id="15" name="Text 11"/>
          <p:cNvSpPr txBox="1"/>
          <p:nvPr/>
        </p:nvSpPr>
        <p:spPr>
          <a:xfrm>
            <a:off x="4023360" y="5559552"/>
            <a:ext cx="7589520" cy="365760"/>
          </a:xfrm>
          <a:prstGeom prst="rect">
            <a:avLst/>
          </a:prstGeom>
          <a:noFill/>
          <a:ln/>
        </p:spPr>
        <p:txBody>
          <a:bodyPr wrap="square" lIns="0" tIns="0" rIns="0" bIns="0" rtlCol="0" anchor="t"/>
          <a:lstStyle/>
          <a:p>
            <a:pPr indent="0" marL="0">
              <a:buNone/>
            </a:pPr>
            <a:r>
              <a:rPr lang="en-US" sz="1400" b="1" dirty="0">
                <a:solidFill>
                  <a:schemeClr val="accent2"/>
                </a:solidFill>
              </a:rPr>
              <a:t>Design limit: holds only at low current across the boom, so the angle sets the load.</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05  |  RESEARCH EVIDENCE</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The hybrid is backed by published tests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291840"/>
                <a:gridCol w="5760720"/>
                <a:gridCol w="2011680"/>
              </a:tblGrid>
              <a:tr h="411480">
                <a:tc>
                  <a:txBody>
                    <a:bodyPr/>
                    <a:lstStyle/>
                    <a:p>
                      <a:pPr indent="0" marL="0">
                        <a:buNone/>
                      </a:pPr>
                      <a:r>
                        <a:rPr lang="en-US" sz="1400" b="1" dirty="0">
                          <a:solidFill>
                            <a:srgbClr val="FFFFFF"/>
                          </a:solidFill>
                        </a:rPr>
                        <a:t>Claim</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0B2A3C"/>
                    </a:solidFill>
                  </a:tcPr>
                </a:tc>
                <a:tc>
                  <a:txBody>
                    <a:bodyPr/>
                    <a:lstStyle/>
                    <a:p>
                      <a:pPr indent="0" marL="0">
                        <a:buNone/>
                      </a:pPr>
                      <a:r>
                        <a:rPr lang="en-US" sz="1400" b="1" dirty="0">
                          <a:solidFill>
                            <a:srgbClr val="FFFFFF"/>
                          </a:solidFill>
                        </a:rPr>
                        <a:t>Evidence</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0B2A3C"/>
                    </a:solidFill>
                  </a:tcPr>
                </a:tc>
                <a:tc>
                  <a:txBody>
                    <a:bodyPr/>
                    <a:lstStyle/>
                    <a:p>
                      <a:pPr indent="0" marL="0">
                        <a:buNone/>
                      </a:pPr>
                      <a:r>
                        <a:rPr lang="en-US" sz="1400" b="1" dirty="0">
                          <a:solidFill>
                            <a:srgbClr val="FFFFFF"/>
                          </a:solidFill>
                        </a:rPr>
                        <a:t>Strength</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0B2A3C"/>
                    </a:solidFill>
                  </a:tcPr>
                </a:tc>
              </a:tr>
              <a:tr h="548640">
                <a:tc>
                  <a:txBody>
                    <a:bodyPr/>
                    <a:lstStyle/>
                    <a:p>
                      <a:pPr indent="0" marL="0">
                        <a:buNone/>
                      </a:pPr>
                      <a:r>
                        <a:rPr lang="en-US" sz="1400" b="1" dirty="0">
                          <a:solidFill>
                            <a:srgbClr val="0B2A3C"/>
                          </a:solidFill>
                        </a:rPr>
                        <a:t>A bubble barrier alone is not enough</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dirty="0">
                          <a:solidFill>
                            <a:srgbClr val="0B2A3C"/>
                          </a:solidFill>
                        </a:rPr>
                        <a:t>Lo (1991), flume: a net downstream of the barrier is recommended</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b="1" dirty="0">
                          <a:solidFill>
                            <a:srgbClr val="0E7C86"/>
                          </a:solidFill>
                        </a:rPr>
                        <a:t>Lab</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B2A3C"/>
                          </a:solidFill>
                        </a:rPr>
                        <a:t>Bubbles plus a boom gather jellyfish for removal</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dirty="0">
                          <a:solidFill>
                            <a:srgbClr val="0B2A3C"/>
                          </a:solidFill>
                        </a:rPr>
                        <a:t>Lo (1996), flume: the plume lifted jellyfish to the surface, where they gathered at the boom for pump removal</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b="1" dirty="0">
                          <a:solidFill>
                            <a:srgbClr val="0E7C86"/>
                          </a:solidFill>
                        </a:rPr>
                        <a:t>Lab</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r>
              <a:tr h="548640">
                <a:tc>
                  <a:txBody>
                    <a:bodyPr/>
                    <a:lstStyle/>
                    <a:p>
                      <a:pPr indent="0" marL="0">
                        <a:buNone/>
                      </a:pPr>
                      <a:r>
                        <a:rPr lang="en-US" sz="1400" b="1" dirty="0">
                          <a:solidFill>
                            <a:srgbClr val="0B2A3C"/>
                          </a:solidFill>
                        </a:rPr>
                        <a:t>Bubble curtains cut jellyfish at scale</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dirty="0">
                          <a:solidFill>
                            <a:srgbClr val="0B2A3C"/>
                          </a:solidFill>
                        </a:rPr>
                        <a:t>Tasmania: 77% fewer in 12 pens. Mowi Portnalong: up to 80% fewer inside the curtain</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b="1" dirty="0">
                          <a:solidFill>
                            <a:srgbClr val="0E7C86"/>
                          </a:solidFill>
                        </a:rPr>
                        <a:t>Field, operator-reported</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B2A3C"/>
                          </a:solidFill>
                        </a:rPr>
                        <a:t>Results depend on size, waves and airflow</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dirty="0">
                          <a:solidFill>
                            <a:srgbClr val="0B2A3C"/>
                          </a:solidFill>
                        </a:rPr>
                        <a:t>Haberlin et al. (2021): large jellyfish deflected; waves and low airflow raised pass-through</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b="1" dirty="0">
                          <a:solidFill>
                            <a:srgbClr val="0E7C86"/>
                          </a:solidFill>
                        </a:rPr>
                        <a:t>Peer-reviewed field and flume</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r>
              <a:tr h="548640">
                <a:tc>
                  <a:txBody>
                    <a:bodyPr/>
                    <a:lstStyle/>
                    <a:p>
                      <a:pPr indent="0" marL="0">
                        <a:buNone/>
                      </a:pPr>
                      <a:r>
                        <a:rPr lang="en-US" sz="1400" b="1" dirty="0">
                          <a:solidFill>
                            <a:srgbClr val="0B2A3C"/>
                          </a:solidFill>
                        </a:rPr>
                        <a:t>Angled booms guide debris at intakes</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dirty="0">
                          <a:solidFill>
                            <a:srgbClr val="0B2A3C"/>
                          </a:solidFill>
                        </a:rPr>
                        <a:t>Ettema and Kubit (2000): flume-tested design guidelines for debris booms at power-station intakes</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b="1" dirty="0">
                          <a:solidFill>
                            <a:srgbClr val="0E7C86"/>
                          </a:solidFill>
                        </a:rPr>
                        <a:t>Published flume study</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0B2A3C"/>
                          </a:solidFill>
                        </a:rPr>
                        <a:t>Airflow and boom angle are real control knobs</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dirty="0">
                          <a:solidFill>
                            <a:srgbClr val="0B2A3C"/>
                          </a:solidFill>
                        </a:rPr>
                        <a:t>Haberlin et al. (2021): airflow and waves changed how many got through. Adjustable-angle booms exist (US patent 5,695,300)</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b="1" dirty="0">
                          <a:solidFill>
                            <a:srgbClr val="0E7C86"/>
                          </a:solidFill>
                        </a:rPr>
                        <a:t>Flume plus patent</a:t>
                      </a:r>
                      <a:endParaRPr lang="en-US" sz="1400" dirty="0"/>
                    </a:p>
                  </a:txBody>
                  <a:tcPr marL="109728" marR="109728" marT="36576" marB="36576"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r>
            </a:tbl>
          </a:graphicData>
        </a:graphic>
      </p:graphicFrame>
      <p:sp>
        <p:nvSpPr>
          <p:cNvPr id="5" name="Shape 2"/>
          <p:cNvSpPr/>
          <p:nvPr/>
        </p:nvSpPr>
        <p:spPr>
          <a:xfrm>
            <a:off x="548640" y="5349240"/>
            <a:ext cx="11064240" cy="777240"/>
          </a:xfrm>
          <a:prstGeom prst="roundRect">
            <a:avLst>
              <a:gd name="adj" fmla="val 11765"/>
            </a:avLst>
          </a:prstGeom>
          <a:solidFill>
            <a:schemeClr val="bg2"/>
          </a:solidFill>
          <a:ln/>
        </p:spPr>
      </p:sp>
      <p:sp>
        <p:nvSpPr>
          <p:cNvPr id="6" name="Text 3"/>
          <p:cNvSpPr txBox="1"/>
          <p:nvPr/>
        </p:nvSpPr>
        <p:spPr>
          <a:xfrm>
            <a:off x="822960" y="5349240"/>
            <a:ext cx="10515600" cy="777240"/>
          </a:xfrm>
          <a:prstGeom prst="rect">
            <a:avLst/>
          </a:prstGeom>
          <a:noFill/>
          <a:ln/>
        </p:spPr>
        <p:txBody>
          <a:bodyPr wrap="square" lIns="0" tIns="0" rIns="0" bIns="0" rtlCol="0" anchor="ctr"/>
          <a:lstStyle/>
          <a:p>
            <a:pPr indent="0" marL="0">
              <a:buNone/>
            </a:pPr>
            <a:r>
              <a:rPr lang="en-US" sz="1500" b="1" dirty="0">
                <a:solidFill>
                  <a:schemeClr val="accent2"/>
                </a:solidFill>
              </a:rPr>
              <a:t>Gap we will close  </a:t>
            </a:r>
            <a:pPr indent="0" marL="0">
              <a:buNone/>
            </a:pPr>
            <a:r>
              <a:rPr lang="en-US" sz="1500" dirty="0">
                <a:solidFill>
                  <a:schemeClr val="tx1"/>
                </a:solidFill>
              </a:rPr>
              <a:t>No published test of this hybrid on a dense 30-45 cm species at full scale, and none of an adaptive controller for it. Our simulation and flume plan target both.</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06  |  CONTROL SOFTWARE</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A software brain that adapts the response</a:t>
            </a:r>
            <a:endParaRPr lang="en-US" sz="2800" dirty="0"/>
          </a:p>
        </p:txBody>
      </p:sp>
      <p:sp>
        <p:nvSpPr>
          <p:cNvPr id="4" name="Shape 2"/>
          <p:cNvSpPr/>
          <p:nvPr/>
        </p:nvSpPr>
        <p:spPr>
          <a:xfrm>
            <a:off x="548640" y="1508760"/>
            <a:ext cx="2514600" cy="1783080"/>
          </a:xfrm>
          <a:prstGeom prst="roundRect">
            <a:avLst>
              <a:gd name="adj" fmla="val 5128"/>
            </a:avLst>
          </a:prstGeom>
          <a:solidFill>
            <a:schemeClr val="bg2"/>
          </a:solidFill>
          <a:ln/>
        </p:spPr>
      </p:sp>
      <p:sp>
        <p:nvSpPr>
          <p:cNvPr id="5" name="Text 3"/>
          <p:cNvSpPr txBox="1"/>
          <p:nvPr/>
        </p:nvSpPr>
        <p:spPr>
          <a:xfrm>
            <a:off x="731520" y="1645920"/>
            <a:ext cx="2148840" cy="237744"/>
          </a:xfrm>
          <a:prstGeom prst="rect">
            <a:avLst/>
          </a:prstGeom>
          <a:noFill/>
          <a:ln/>
        </p:spPr>
        <p:txBody>
          <a:bodyPr wrap="square" lIns="0" tIns="0" rIns="0" bIns="0" rtlCol="0" anchor="t"/>
          <a:lstStyle/>
          <a:p>
            <a:pPr indent="0" marL="0">
              <a:buNone/>
            </a:pPr>
            <a:r>
              <a:rPr lang="en-US" sz="1100" b="1" dirty="0">
                <a:solidFill>
                  <a:schemeClr val="accent1"/>
                </a:solidFill>
              </a:rPr>
              <a:t>01  |  ALERT</a:t>
            </a:r>
            <a:endParaRPr lang="en-US" sz="1100" dirty="0"/>
          </a:p>
        </p:txBody>
      </p:sp>
      <p:sp>
        <p:nvSpPr>
          <p:cNvPr id="6" name="Text 4"/>
          <p:cNvSpPr txBox="1"/>
          <p:nvPr/>
        </p:nvSpPr>
        <p:spPr>
          <a:xfrm>
            <a:off x="731520" y="1920240"/>
            <a:ext cx="2148840" cy="365760"/>
          </a:xfrm>
          <a:prstGeom prst="rect">
            <a:avLst/>
          </a:prstGeom>
          <a:noFill/>
          <a:ln/>
        </p:spPr>
        <p:txBody>
          <a:bodyPr wrap="square" lIns="0" tIns="0" rIns="0" bIns="0" rtlCol="0" anchor="t"/>
          <a:lstStyle/>
          <a:p>
            <a:pPr indent="0" marL="0">
              <a:buNone/>
            </a:pPr>
            <a:r>
              <a:rPr lang="en-US" sz="1800" b="1" dirty="0">
                <a:solidFill>
                  <a:schemeClr val="tx1"/>
                </a:solidFill>
              </a:rPr>
              <a:t>ENEC bloom warning</a:t>
            </a:r>
            <a:endParaRPr lang="en-US" sz="1800" dirty="0"/>
          </a:p>
        </p:txBody>
      </p:sp>
      <p:sp>
        <p:nvSpPr>
          <p:cNvPr id="7" name="Text 5"/>
          <p:cNvSpPr txBox="1"/>
          <p:nvPr/>
        </p:nvSpPr>
        <p:spPr>
          <a:xfrm>
            <a:off x="731520" y="2377440"/>
            <a:ext cx="2148840" cy="868680"/>
          </a:xfrm>
          <a:prstGeom prst="rect">
            <a:avLst/>
          </a:prstGeom>
          <a:noFill/>
          <a:ln/>
        </p:spPr>
        <p:txBody>
          <a:bodyPr wrap="square" lIns="0" tIns="0" rIns="0" bIns="0" rtlCol="0" anchor="t"/>
          <a:lstStyle/>
          <a:p>
            <a:pPr indent="0" marL="0">
              <a:buNone/>
            </a:pPr>
            <a:r>
              <a:rPr lang="en-US" sz="1400" dirty="0">
                <a:solidFill>
                  <a:schemeClr val="tx1"/>
                </a:solidFill>
              </a:rPr>
              <a:t>Existing offshore detection starts the loop.</a:t>
            </a:r>
            <a:endParaRPr lang="en-US" sz="1400" dirty="0"/>
          </a:p>
        </p:txBody>
      </p:sp>
      <p:sp>
        <p:nvSpPr>
          <p:cNvPr id="8" name="Shape 6"/>
          <p:cNvSpPr/>
          <p:nvPr/>
        </p:nvSpPr>
        <p:spPr>
          <a:xfrm>
            <a:off x="3108960" y="2240280"/>
            <a:ext cx="274320" cy="274320"/>
          </a:xfrm>
          <a:prstGeom prst="rightArrow">
            <a:avLst/>
          </a:prstGeom>
          <a:solidFill>
            <a:schemeClr val="accent1"/>
          </a:solidFill>
          <a:ln/>
        </p:spPr>
      </p:sp>
      <p:sp>
        <p:nvSpPr>
          <p:cNvPr id="9" name="Shape 7"/>
          <p:cNvSpPr/>
          <p:nvPr/>
        </p:nvSpPr>
        <p:spPr>
          <a:xfrm>
            <a:off x="3398825" y="1508760"/>
            <a:ext cx="2514600" cy="1783080"/>
          </a:xfrm>
          <a:prstGeom prst="roundRect">
            <a:avLst>
              <a:gd name="adj" fmla="val 5128"/>
            </a:avLst>
          </a:prstGeom>
          <a:solidFill>
            <a:schemeClr val="bg2"/>
          </a:solidFill>
          <a:ln/>
        </p:spPr>
      </p:sp>
      <p:sp>
        <p:nvSpPr>
          <p:cNvPr id="10" name="Text 8"/>
          <p:cNvSpPr txBox="1"/>
          <p:nvPr/>
        </p:nvSpPr>
        <p:spPr>
          <a:xfrm>
            <a:off x="3581705" y="1645920"/>
            <a:ext cx="2148840" cy="237744"/>
          </a:xfrm>
          <a:prstGeom prst="rect">
            <a:avLst/>
          </a:prstGeom>
          <a:noFill/>
          <a:ln/>
        </p:spPr>
        <p:txBody>
          <a:bodyPr wrap="square" lIns="0" tIns="0" rIns="0" bIns="0" rtlCol="0" anchor="t"/>
          <a:lstStyle/>
          <a:p>
            <a:pPr indent="0" marL="0">
              <a:buNone/>
            </a:pPr>
            <a:r>
              <a:rPr lang="en-US" sz="1100" b="1" dirty="0">
                <a:solidFill>
                  <a:schemeClr val="accent1"/>
                </a:solidFill>
              </a:rPr>
              <a:t>02  |  SENSE</a:t>
            </a:r>
            <a:endParaRPr lang="en-US" sz="1100" dirty="0"/>
          </a:p>
        </p:txBody>
      </p:sp>
      <p:sp>
        <p:nvSpPr>
          <p:cNvPr id="11" name="Text 9"/>
          <p:cNvSpPr txBox="1"/>
          <p:nvPr/>
        </p:nvSpPr>
        <p:spPr>
          <a:xfrm>
            <a:off x="3581705" y="1920240"/>
            <a:ext cx="2148840" cy="365760"/>
          </a:xfrm>
          <a:prstGeom prst="rect">
            <a:avLst/>
          </a:prstGeom>
          <a:noFill/>
          <a:ln/>
        </p:spPr>
        <p:txBody>
          <a:bodyPr wrap="square" lIns="0" tIns="0" rIns="0" bIns="0" rtlCol="0" anchor="t"/>
          <a:lstStyle/>
          <a:p>
            <a:pPr indent="0" marL="0">
              <a:buNone/>
            </a:pPr>
            <a:r>
              <a:rPr lang="en-US" sz="1800" b="1" dirty="0">
                <a:solidFill>
                  <a:schemeClr val="tx1"/>
                </a:solidFill>
              </a:rPr>
              <a:t>Count and track</a:t>
            </a:r>
            <a:endParaRPr lang="en-US" sz="1800" dirty="0"/>
          </a:p>
        </p:txBody>
      </p:sp>
      <p:sp>
        <p:nvSpPr>
          <p:cNvPr id="12" name="Text 10"/>
          <p:cNvSpPr txBox="1"/>
          <p:nvPr/>
        </p:nvSpPr>
        <p:spPr>
          <a:xfrm>
            <a:off x="3581705" y="2377440"/>
            <a:ext cx="2148840" cy="868680"/>
          </a:xfrm>
          <a:prstGeom prst="rect">
            <a:avLst/>
          </a:prstGeom>
          <a:noFill/>
          <a:ln/>
        </p:spPr>
        <p:txBody>
          <a:bodyPr wrap="square" lIns="0" tIns="0" rIns="0" bIns="0" rtlCol="0" anchor="t"/>
          <a:lstStyle/>
          <a:p>
            <a:pPr indent="0" marL="0">
              <a:buNone/>
            </a:pPr>
            <a:r>
              <a:rPr lang="en-US" sz="1400" dirty="0">
                <a:solidFill>
                  <a:schemeClr val="tx1"/>
                </a:solidFill>
              </a:rPr>
              <a:t>Camera or sonar estimates arrivals; sensors read current and waves.</a:t>
            </a:r>
            <a:endParaRPr lang="en-US" sz="1400" dirty="0"/>
          </a:p>
        </p:txBody>
      </p:sp>
      <p:sp>
        <p:nvSpPr>
          <p:cNvPr id="13" name="Shape 11"/>
          <p:cNvSpPr/>
          <p:nvPr/>
        </p:nvSpPr>
        <p:spPr>
          <a:xfrm>
            <a:off x="5959145" y="2240280"/>
            <a:ext cx="274320" cy="274320"/>
          </a:xfrm>
          <a:prstGeom prst="rightArrow">
            <a:avLst/>
          </a:prstGeom>
          <a:solidFill>
            <a:schemeClr val="accent1"/>
          </a:solidFill>
          <a:ln/>
        </p:spPr>
      </p:sp>
      <p:sp>
        <p:nvSpPr>
          <p:cNvPr id="14" name="Shape 12"/>
          <p:cNvSpPr/>
          <p:nvPr/>
        </p:nvSpPr>
        <p:spPr>
          <a:xfrm>
            <a:off x="6249010" y="1508760"/>
            <a:ext cx="2514600" cy="1783080"/>
          </a:xfrm>
          <a:prstGeom prst="roundRect">
            <a:avLst>
              <a:gd name="adj" fmla="val 5128"/>
            </a:avLst>
          </a:prstGeom>
          <a:solidFill>
            <a:schemeClr val="bg2"/>
          </a:solidFill>
          <a:ln/>
        </p:spPr>
      </p:sp>
      <p:sp>
        <p:nvSpPr>
          <p:cNvPr id="15" name="Text 13"/>
          <p:cNvSpPr txBox="1"/>
          <p:nvPr/>
        </p:nvSpPr>
        <p:spPr>
          <a:xfrm>
            <a:off x="6431890" y="1645920"/>
            <a:ext cx="2148840" cy="237744"/>
          </a:xfrm>
          <a:prstGeom prst="rect">
            <a:avLst/>
          </a:prstGeom>
          <a:noFill/>
          <a:ln/>
        </p:spPr>
        <p:txBody>
          <a:bodyPr wrap="square" lIns="0" tIns="0" rIns="0" bIns="0" rtlCol="0" anchor="t"/>
          <a:lstStyle/>
          <a:p>
            <a:pPr indent="0" marL="0">
              <a:buNone/>
            </a:pPr>
            <a:r>
              <a:rPr lang="en-US" sz="1100" b="1" dirty="0">
                <a:solidFill>
                  <a:schemeClr val="accent1"/>
                </a:solidFill>
              </a:rPr>
              <a:t>03  |  DECIDE</a:t>
            </a:r>
            <a:endParaRPr lang="en-US" sz="1100" dirty="0"/>
          </a:p>
        </p:txBody>
      </p:sp>
      <p:sp>
        <p:nvSpPr>
          <p:cNvPr id="16" name="Text 14"/>
          <p:cNvSpPr txBox="1"/>
          <p:nvPr/>
        </p:nvSpPr>
        <p:spPr>
          <a:xfrm>
            <a:off x="6431890" y="1920240"/>
            <a:ext cx="2148840" cy="365760"/>
          </a:xfrm>
          <a:prstGeom prst="rect">
            <a:avLst/>
          </a:prstGeom>
          <a:noFill/>
          <a:ln/>
        </p:spPr>
        <p:txBody>
          <a:bodyPr wrap="square" lIns="0" tIns="0" rIns="0" bIns="0" rtlCol="0" anchor="t"/>
          <a:lstStyle/>
          <a:p>
            <a:pPr indent="0" marL="0">
              <a:buNone/>
            </a:pPr>
            <a:r>
              <a:rPr lang="en-US" sz="1800" b="1" dirty="0">
                <a:solidFill>
                  <a:schemeClr val="tx1"/>
                </a:solidFill>
              </a:rPr>
              <a:t>Estimate and choose</a:t>
            </a:r>
            <a:endParaRPr lang="en-US" sz="1800" dirty="0"/>
          </a:p>
        </p:txBody>
      </p:sp>
      <p:sp>
        <p:nvSpPr>
          <p:cNvPr id="17" name="Text 15"/>
          <p:cNvSpPr txBox="1"/>
          <p:nvPr/>
        </p:nvSpPr>
        <p:spPr>
          <a:xfrm>
            <a:off x="6431890" y="2377440"/>
            <a:ext cx="2148840" cy="868680"/>
          </a:xfrm>
          <a:prstGeom prst="rect">
            <a:avLst/>
          </a:prstGeom>
          <a:noFill/>
          <a:ln/>
        </p:spPr>
        <p:txBody>
          <a:bodyPr wrap="square" lIns="0" tIns="0" rIns="0" bIns="0" rtlCol="0" anchor="t"/>
          <a:lstStyle/>
          <a:p>
            <a:pPr indent="0" marL="0">
              <a:buNone/>
            </a:pPr>
            <a:r>
              <a:rPr lang="en-US" sz="1400" dirty="0">
                <a:solidFill>
                  <a:schemeClr val="tx1"/>
                </a:solidFill>
              </a:rPr>
              <a:t>Software sets air level and boom angle from arrival rate and direction.</a:t>
            </a:r>
            <a:endParaRPr lang="en-US" sz="1400" dirty="0"/>
          </a:p>
        </p:txBody>
      </p:sp>
      <p:sp>
        <p:nvSpPr>
          <p:cNvPr id="18" name="Shape 16"/>
          <p:cNvSpPr/>
          <p:nvPr/>
        </p:nvSpPr>
        <p:spPr>
          <a:xfrm>
            <a:off x="8809330" y="2240280"/>
            <a:ext cx="274320" cy="274320"/>
          </a:xfrm>
          <a:prstGeom prst="rightArrow">
            <a:avLst/>
          </a:prstGeom>
          <a:solidFill>
            <a:schemeClr val="accent1"/>
          </a:solidFill>
          <a:ln/>
        </p:spPr>
      </p:sp>
      <p:sp>
        <p:nvSpPr>
          <p:cNvPr id="19" name="Shape 17"/>
          <p:cNvSpPr/>
          <p:nvPr/>
        </p:nvSpPr>
        <p:spPr>
          <a:xfrm>
            <a:off x="9099194" y="1508760"/>
            <a:ext cx="2514600" cy="1783080"/>
          </a:xfrm>
          <a:prstGeom prst="roundRect">
            <a:avLst>
              <a:gd name="adj" fmla="val 5128"/>
            </a:avLst>
          </a:prstGeom>
          <a:solidFill>
            <a:schemeClr val="bg2"/>
          </a:solidFill>
          <a:ln/>
        </p:spPr>
      </p:sp>
      <p:sp>
        <p:nvSpPr>
          <p:cNvPr id="20" name="Text 18"/>
          <p:cNvSpPr txBox="1"/>
          <p:nvPr/>
        </p:nvSpPr>
        <p:spPr>
          <a:xfrm>
            <a:off x="9282074" y="1645920"/>
            <a:ext cx="2148840" cy="237744"/>
          </a:xfrm>
          <a:prstGeom prst="rect">
            <a:avLst/>
          </a:prstGeom>
          <a:noFill/>
          <a:ln/>
        </p:spPr>
        <p:txBody>
          <a:bodyPr wrap="square" lIns="0" tIns="0" rIns="0" bIns="0" rtlCol="0" anchor="t"/>
          <a:lstStyle/>
          <a:p>
            <a:pPr indent="0" marL="0">
              <a:buNone/>
            </a:pPr>
            <a:r>
              <a:rPr lang="en-US" sz="1100" b="1" dirty="0">
                <a:solidFill>
                  <a:schemeClr val="accent1"/>
                </a:solidFill>
              </a:rPr>
              <a:t>04  |  ACT</a:t>
            </a:r>
            <a:endParaRPr lang="en-US" sz="1100" dirty="0"/>
          </a:p>
        </p:txBody>
      </p:sp>
      <p:sp>
        <p:nvSpPr>
          <p:cNvPr id="21" name="Text 19"/>
          <p:cNvSpPr txBox="1"/>
          <p:nvPr/>
        </p:nvSpPr>
        <p:spPr>
          <a:xfrm>
            <a:off x="9282074" y="1920240"/>
            <a:ext cx="2148840" cy="365760"/>
          </a:xfrm>
          <a:prstGeom prst="rect">
            <a:avLst/>
          </a:prstGeom>
          <a:noFill/>
          <a:ln/>
        </p:spPr>
        <p:txBody>
          <a:bodyPr wrap="square" lIns="0" tIns="0" rIns="0" bIns="0" rtlCol="0" anchor="t"/>
          <a:lstStyle/>
          <a:p>
            <a:pPr indent="0" marL="0">
              <a:buNone/>
            </a:pPr>
            <a:r>
              <a:rPr lang="en-US" sz="1800" b="1" dirty="0">
                <a:solidFill>
                  <a:schemeClr val="tx1"/>
                </a:solidFill>
              </a:rPr>
              <a:t>Adjust or stop</a:t>
            </a:r>
            <a:endParaRPr lang="en-US" sz="1800" dirty="0"/>
          </a:p>
        </p:txBody>
      </p:sp>
      <p:sp>
        <p:nvSpPr>
          <p:cNvPr id="22" name="Text 20"/>
          <p:cNvSpPr txBox="1"/>
          <p:nvPr/>
        </p:nvSpPr>
        <p:spPr>
          <a:xfrm>
            <a:off x="9282074" y="2377440"/>
            <a:ext cx="2148840" cy="868680"/>
          </a:xfrm>
          <a:prstGeom prst="rect">
            <a:avLst/>
          </a:prstGeom>
          <a:noFill/>
          <a:ln/>
        </p:spPr>
        <p:txBody>
          <a:bodyPr wrap="square" lIns="0" tIns="0" rIns="0" bIns="0" rtlCol="0" anchor="t"/>
          <a:lstStyle/>
          <a:p>
            <a:pPr indent="0" marL="0">
              <a:buNone/>
            </a:pPr>
            <a:r>
              <a:rPr lang="en-US" sz="1400" dirty="0">
                <a:solidFill>
                  <a:schemeClr val="tx1"/>
                </a:solidFill>
              </a:rPr>
              <a:t>Air, boom and collector follow the bloom; all stop when arrivals stop.</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520440"/>
          <a:ext cx="7132320" cy="914400"/>
        </p:xfrm>
        <a:graphic>
          <a:graphicData uri="http://schemas.openxmlformats.org/drawingml/2006/table">
            <a:tbl>
              <a:tblPr/>
              <a:tblGrid>
                <a:gridCol w="2743200"/>
                <a:gridCol w="4389120"/>
              </a:tblGrid>
              <a:tr h="365760">
                <a:tc>
                  <a:txBody>
                    <a:bodyPr/>
                    <a:lstStyle/>
                    <a:p>
                      <a:pPr indent="0" marL="0">
                        <a:buNone/>
                      </a:pPr>
                      <a:r>
                        <a:rPr lang="en-US" sz="1400" b="1" dirty="0">
                          <a:solidFill>
                            <a:srgbClr val="FFFFFF"/>
                          </a:solidFill>
                        </a:rPr>
                        <a:t>If the software sees</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0B2A3C"/>
                    </a:solidFill>
                  </a:tcPr>
                </a:tc>
                <a:tc>
                  <a:txBody>
                    <a:bodyPr/>
                    <a:lstStyle/>
                    <a:p>
                      <a:pPr indent="0" marL="0">
                        <a:buNone/>
                      </a:pPr>
                      <a:r>
                        <a:rPr lang="en-US" sz="1400" b="1" dirty="0">
                          <a:solidFill>
                            <a:srgbClr val="FFFFFF"/>
                          </a:solidFill>
                        </a:rPr>
                        <a:t>Then it</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0B2A3C"/>
                    </a:solidFill>
                  </a:tcPr>
                </a:tc>
              </a:tr>
              <a:tr h="530352">
                <a:tc>
                  <a:txBody>
                    <a:bodyPr/>
                    <a:lstStyle/>
                    <a:p>
                      <a:pPr indent="0" marL="0">
                        <a:buNone/>
                      </a:pPr>
                      <a:r>
                        <a:rPr lang="en-US" sz="1400" b="1" dirty="0">
                          <a:solidFill>
                            <a:srgbClr val="0B2A3C"/>
                          </a:solidFill>
                        </a:rPr>
                        <a:t>Arrivals rise</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dirty="0">
                          <a:solidFill>
                            <a:srgbClr val="0B2A3C"/>
                          </a:solidFill>
                        </a:rPr>
                        <a:t>Raise air flow to its set-point; re-angle the boom to keep cross-flow within its limit</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2A3C"/>
                          </a:solidFill>
                        </a:rPr>
                        <a:t>Arrival direction shifts</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dirty="0">
                          <a:solidFill>
                            <a:srgbClr val="0B2A3C"/>
                          </a:solidFill>
                        </a:rPr>
                        <a:t>Swing the boom toward the new approach</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r>
              <a:tr h="530352">
                <a:tc>
                  <a:txBody>
                    <a:bodyPr/>
                    <a:lstStyle/>
                    <a:p>
                      <a:pPr indent="0" marL="0">
                        <a:buNone/>
                      </a:pPr>
                      <a:r>
                        <a:rPr lang="en-US" sz="1400" b="1" dirty="0">
                          <a:solidFill>
                            <a:srgbClr val="0B2A3C"/>
                          </a:solidFill>
                        </a:rPr>
                        <a:t>Arrivals near zero for a set time</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c>
                  <a:txBody>
                    <a:bodyPr/>
                    <a:lstStyle/>
                    <a:p>
                      <a:pPr indent="0" marL="0">
                        <a:buNone/>
                      </a:pPr>
                      <a:r>
                        <a:rPr lang="en-US" sz="1400" dirty="0">
                          <a:solidFill>
                            <a:srgbClr val="0B2A3C"/>
                          </a:solidFill>
                        </a:rPr>
                        <a:t>Stop air, park the boom, keep watching</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0B2A3C"/>
                          </a:solidFill>
                        </a:rPr>
                        <a:t>Waves, boom load or intake pressure too high</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c>
                  <a:txBody>
                    <a:bodyPr/>
                    <a:lstStyle/>
                    <a:p>
                      <a:pPr indent="0" marL="0">
                        <a:buNone/>
                      </a:pPr>
                      <a:r>
                        <a:rPr lang="en-US" sz="1400" dirty="0">
                          <a:solidFill>
                            <a:srgbClr val="0B2A3C"/>
                          </a:solidFill>
                        </a:rPr>
                        <a:t>Air off or boom retracted; alert the operator</a:t>
                      </a:r>
                      <a:endParaRPr lang="en-US" sz="1400" dirty="0"/>
                    </a:p>
                  </a:txBody>
                  <a:tcPr marL="109728" marR="109728" marT="27432" marB="27432" anchor="ctr">
                    <a:lnL w="6350" cap="flat" cmpd="sng" algn="ctr">
                      <a:solidFill>
                        <a:srgbClr val="D5E3E8"/>
                      </a:solidFill>
                      <a:prstDash val="solid"/>
                      <a:round/>
                      <a:headEnd type="none" w="med" len="med"/>
                      <a:tailEnd type="none" w="med" len="med"/>
                    </a:lnL>
                    <a:lnR w="6350" cap="flat" cmpd="sng" algn="ctr">
                      <a:solidFill>
                        <a:srgbClr val="D5E3E8"/>
                      </a:solidFill>
                      <a:prstDash val="solid"/>
                      <a:round/>
                      <a:headEnd type="none" w="med" len="med"/>
                      <a:tailEnd type="none" w="med" len="med"/>
                    </a:lnR>
                    <a:lnT w="6350" cap="flat" cmpd="sng" algn="ctr">
                      <a:solidFill>
                        <a:srgbClr val="D5E3E8"/>
                      </a:solidFill>
                      <a:prstDash val="solid"/>
                      <a:round/>
                      <a:headEnd type="none" w="med" len="med"/>
                      <a:tailEnd type="none" w="med" len="med"/>
                    </a:lnT>
                    <a:lnB w="6350" cap="flat" cmpd="sng" algn="ctr">
                      <a:solidFill>
                        <a:srgbClr val="D5E3E8"/>
                      </a:solidFill>
                      <a:prstDash val="solid"/>
                      <a:round/>
                      <a:headEnd type="none" w="med" len="med"/>
                      <a:tailEnd type="none" w="med" len="med"/>
                    </a:lnB>
                    <a:solidFill>
                      <a:srgbClr val="EAF4F6"/>
                    </a:solidFill>
                  </a:tcPr>
                </a:tc>
              </a:tr>
            </a:tbl>
          </a:graphicData>
        </a:graphic>
      </p:graphicFrame>
      <p:sp>
        <p:nvSpPr>
          <p:cNvPr id="24" name="Shape 21"/>
          <p:cNvSpPr/>
          <p:nvPr/>
        </p:nvSpPr>
        <p:spPr>
          <a:xfrm>
            <a:off x="7955280" y="3520440"/>
            <a:ext cx="3657600" cy="2487168"/>
          </a:xfrm>
          <a:prstGeom prst="roundRect">
            <a:avLst>
              <a:gd name="adj" fmla="val 3676"/>
            </a:avLst>
          </a:prstGeom>
          <a:solidFill>
            <a:schemeClr val="tx1"/>
          </a:solidFill>
          <a:ln/>
        </p:spPr>
      </p:sp>
      <p:sp>
        <p:nvSpPr>
          <p:cNvPr id="25" name="Text 22"/>
          <p:cNvSpPr txBox="1"/>
          <p:nvPr/>
        </p:nvSpPr>
        <p:spPr>
          <a:xfrm>
            <a:off x="8229600" y="3657600"/>
            <a:ext cx="3108960" cy="365760"/>
          </a:xfrm>
          <a:prstGeom prst="rect">
            <a:avLst/>
          </a:prstGeom>
          <a:noFill/>
          <a:ln/>
        </p:spPr>
        <p:txBody>
          <a:bodyPr wrap="square" lIns="0" tIns="0" rIns="0" bIns="0" rtlCol="0" anchor="t"/>
          <a:lstStyle/>
          <a:p>
            <a:pPr indent="0" marL="0">
              <a:buNone/>
            </a:pPr>
            <a:r>
              <a:rPr lang="en-US" sz="1800" b="1" dirty="0">
                <a:solidFill>
                  <a:schemeClr val="accent3"/>
                </a:solidFill>
              </a:rPr>
              <a:t>Guardrails</a:t>
            </a:r>
            <a:endParaRPr lang="en-US" sz="1800" dirty="0"/>
          </a:p>
        </p:txBody>
      </p:sp>
      <p:sp>
        <p:nvSpPr>
          <p:cNvPr id="26" name="Text 23"/>
          <p:cNvSpPr txBox="1"/>
          <p:nvPr/>
        </p:nvSpPr>
        <p:spPr>
          <a:xfrm>
            <a:off x="8229600" y="4069080"/>
            <a:ext cx="3200400" cy="1874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Local interlocks bound every set-point</a:t>
            </a:r>
            <a:endParaRPr lang="en-US" sz="1400" dirty="0"/>
          </a:p>
          <a:p>
            <a:pPr marL="342900" indent="-342900">
              <a:spcAft>
                <a:spcPts val="600"/>
              </a:spcAft>
              <a:buSzPct val="100000"/>
              <a:buChar char="•"/>
            </a:pPr>
            <a:r>
              <a:rPr lang="en-US" sz="1400" dirty="0">
                <a:solidFill>
                  <a:schemeClr val="bg1"/>
                </a:solidFill>
              </a:rPr>
              <a:t>Operators authorize deployment and releases</a:t>
            </a:r>
            <a:endParaRPr lang="en-US" sz="1400" dirty="0"/>
          </a:p>
          <a:p>
            <a:pPr marL="342900" indent="-342900">
              <a:spcAft>
                <a:spcPts val="600"/>
              </a:spcAft>
              <a:buSzPct val="100000"/>
              <a:buChar char="•"/>
            </a:pPr>
            <a:r>
              <a:rPr lang="en-US" sz="1400" dirty="0">
                <a:solidFill>
                  <a:schemeClr val="bg1"/>
                </a:solidFill>
              </a:rPr>
              <a:t>Rules first; machine learning only once data exist</a:t>
            </a:r>
            <a:endParaRPr lang="en-US" sz="1400" dirty="0"/>
          </a:p>
          <a:p>
            <a:pPr marL="342900" indent="-342900">
              <a:spcAft>
                <a:spcPts val="600"/>
              </a:spcAft>
              <a:buSzPct val="100000"/>
              <a:buChar char="•"/>
            </a:pPr>
            <a:r>
              <a:rPr lang="en-US" sz="1400" dirty="0">
                <a:solidFill>
                  <a:schemeClr val="bg1"/>
                </a:solidFill>
              </a:rPr>
              <a:t>Starts from the ENEC alert; does not replace detection</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07  |  SUSTAINABILITY AND RISK</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Built around the known limits and marine life</a:t>
            </a:r>
            <a:endParaRPr lang="en-US" sz="2800" dirty="0"/>
          </a:p>
        </p:txBody>
      </p:sp>
      <p:sp>
        <p:nvSpPr>
          <p:cNvPr id="4" name="Text 2"/>
          <p:cNvSpPr txBox="1"/>
          <p:nvPr/>
        </p:nvSpPr>
        <p:spPr>
          <a:xfrm>
            <a:off x="548640" y="1463040"/>
            <a:ext cx="2743200" cy="228600"/>
          </a:xfrm>
          <a:prstGeom prst="rect">
            <a:avLst/>
          </a:prstGeom>
          <a:noFill/>
          <a:ln/>
        </p:spPr>
        <p:txBody>
          <a:bodyPr wrap="square" lIns="0" tIns="0" rIns="0" bIns="0" rtlCol="0" anchor="t"/>
          <a:lstStyle/>
          <a:p>
            <a:pPr indent="0" marL="0">
              <a:buNone/>
            </a:pPr>
            <a:r>
              <a:rPr lang="en-US" sz="1100" b="1" dirty="0">
                <a:solidFill>
                  <a:schemeClr val="accent5"/>
                </a:solidFill>
              </a:rPr>
              <a:t>KNOWN LIMIT</a:t>
            </a:r>
            <a:endParaRPr lang="en-US" sz="1100" dirty="0"/>
          </a:p>
        </p:txBody>
      </p:sp>
      <p:sp>
        <p:nvSpPr>
          <p:cNvPr id="5" name="Text 3"/>
          <p:cNvSpPr txBox="1"/>
          <p:nvPr/>
        </p:nvSpPr>
        <p:spPr>
          <a:xfrm>
            <a:off x="3840480" y="1463040"/>
            <a:ext cx="3383280" cy="228600"/>
          </a:xfrm>
          <a:prstGeom prst="rect">
            <a:avLst/>
          </a:prstGeom>
          <a:noFill/>
          <a:ln/>
        </p:spPr>
        <p:txBody>
          <a:bodyPr wrap="square" lIns="0" tIns="0" rIns="0" bIns="0" rtlCol="0" anchor="t"/>
          <a:lstStyle/>
          <a:p>
            <a:pPr indent="0" marL="0">
              <a:buNone/>
            </a:pPr>
            <a:r>
              <a:rPr lang="en-US" sz="1100" b="1" dirty="0">
                <a:solidFill>
                  <a:schemeClr val="accent5"/>
                </a:solidFill>
              </a:rPr>
              <a:t>OUR RESPONSE</a:t>
            </a:r>
            <a:endParaRPr lang="en-US" sz="1100" dirty="0"/>
          </a:p>
        </p:txBody>
      </p:sp>
      <p:sp>
        <p:nvSpPr>
          <p:cNvPr id="6" name="Shape 4"/>
          <p:cNvSpPr/>
          <p:nvPr/>
        </p:nvSpPr>
        <p:spPr>
          <a:xfrm>
            <a:off x="548640" y="1783080"/>
            <a:ext cx="6675120" cy="713232"/>
          </a:xfrm>
          <a:prstGeom prst="roundRect">
            <a:avLst>
              <a:gd name="adj" fmla="val 12821"/>
            </a:avLst>
          </a:prstGeom>
          <a:solidFill>
            <a:schemeClr val="bg2"/>
          </a:solidFill>
          <a:ln/>
        </p:spPr>
      </p:sp>
      <p:sp>
        <p:nvSpPr>
          <p:cNvPr id="7" name="Text 5"/>
          <p:cNvSpPr txBox="1"/>
          <p:nvPr/>
        </p:nvSpPr>
        <p:spPr>
          <a:xfrm>
            <a:off x="777240" y="1783080"/>
            <a:ext cx="2606040" cy="713232"/>
          </a:xfrm>
          <a:prstGeom prst="rect">
            <a:avLst/>
          </a:prstGeom>
          <a:noFill/>
          <a:ln/>
        </p:spPr>
        <p:txBody>
          <a:bodyPr wrap="square" lIns="0" tIns="0" rIns="0" bIns="0" rtlCol="0" anchor="ctr"/>
          <a:lstStyle/>
          <a:p>
            <a:pPr indent="0" marL="0">
              <a:buNone/>
            </a:pPr>
            <a:r>
              <a:rPr lang="en-US" sz="1400" b="1" dirty="0">
                <a:solidFill>
                  <a:schemeClr val="accent2"/>
                </a:solidFill>
              </a:rPr>
              <a:t>Waves cut curtain performance</a:t>
            </a:r>
            <a:endParaRPr lang="en-US" sz="1400" dirty="0"/>
          </a:p>
        </p:txBody>
      </p:sp>
      <p:sp>
        <p:nvSpPr>
          <p:cNvPr id="8" name="Shape 6"/>
          <p:cNvSpPr/>
          <p:nvPr/>
        </p:nvSpPr>
        <p:spPr>
          <a:xfrm>
            <a:off x="3474720" y="2011680"/>
            <a:ext cx="256032" cy="256032"/>
          </a:xfrm>
          <a:prstGeom prst="rightArrow">
            <a:avLst/>
          </a:prstGeom>
          <a:solidFill>
            <a:schemeClr val="accent1"/>
          </a:solidFill>
          <a:ln/>
        </p:spPr>
      </p:sp>
      <p:sp>
        <p:nvSpPr>
          <p:cNvPr id="9" name="Text 7"/>
          <p:cNvSpPr txBox="1"/>
          <p:nvPr/>
        </p:nvSpPr>
        <p:spPr>
          <a:xfrm>
            <a:off x="3840480" y="1783080"/>
            <a:ext cx="3246120" cy="713232"/>
          </a:xfrm>
          <a:prstGeom prst="rect">
            <a:avLst/>
          </a:prstGeom>
          <a:noFill/>
          <a:ln/>
        </p:spPr>
        <p:txBody>
          <a:bodyPr wrap="square" lIns="0" tIns="0" rIns="0" bIns="0" rtlCol="0" anchor="ctr"/>
          <a:lstStyle/>
          <a:p>
            <a:pPr indent="0" marL="0">
              <a:buNone/>
            </a:pPr>
            <a:r>
              <a:rPr lang="en-US" sz="1400" dirty="0">
                <a:solidFill>
                  <a:schemeClr val="tx1"/>
                </a:solidFill>
              </a:rPr>
              <a:t>Use the breakwater-sheltered approach; software stops air in rough seas</a:t>
            </a:r>
            <a:endParaRPr lang="en-US" sz="1400" dirty="0"/>
          </a:p>
        </p:txBody>
      </p:sp>
      <p:sp>
        <p:nvSpPr>
          <p:cNvPr id="10" name="Shape 8"/>
          <p:cNvSpPr/>
          <p:nvPr/>
        </p:nvSpPr>
        <p:spPr>
          <a:xfrm>
            <a:off x="548640" y="2569464"/>
            <a:ext cx="6675120" cy="713232"/>
          </a:xfrm>
          <a:prstGeom prst="roundRect">
            <a:avLst>
              <a:gd name="adj" fmla="val 12821"/>
            </a:avLst>
          </a:prstGeom>
          <a:solidFill>
            <a:schemeClr val="bg2"/>
          </a:solidFill>
          <a:ln/>
        </p:spPr>
      </p:sp>
      <p:sp>
        <p:nvSpPr>
          <p:cNvPr id="11" name="Text 9"/>
          <p:cNvSpPr txBox="1"/>
          <p:nvPr/>
        </p:nvSpPr>
        <p:spPr>
          <a:xfrm>
            <a:off x="777240" y="2569464"/>
            <a:ext cx="2606040" cy="713232"/>
          </a:xfrm>
          <a:prstGeom prst="rect">
            <a:avLst/>
          </a:prstGeom>
          <a:noFill/>
          <a:ln/>
        </p:spPr>
        <p:txBody>
          <a:bodyPr wrap="square" lIns="0" tIns="0" rIns="0" bIns="0" rtlCol="0" anchor="ctr"/>
          <a:lstStyle/>
          <a:p>
            <a:pPr indent="0" marL="0">
              <a:buNone/>
            </a:pPr>
            <a:r>
              <a:rPr lang="en-US" sz="1400" b="1" dirty="0">
                <a:solidFill>
                  <a:schemeClr val="accent2"/>
                </a:solidFill>
              </a:rPr>
              <a:t>Small fragments pass through</a:t>
            </a:r>
            <a:endParaRPr lang="en-US" sz="1400" dirty="0"/>
          </a:p>
        </p:txBody>
      </p:sp>
      <p:sp>
        <p:nvSpPr>
          <p:cNvPr id="12" name="Shape 10"/>
          <p:cNvSpPr/>
          <p:nvPr/>
        </p:nvSpPr>
        <p:spPr>
          <a:xfrm>
            <a:off x="3474720" y="2798064"/>
            <a:ext cx="256032" cy="256032"/>
          </a:xfrm>
          <a:prstGeom prst="rightArrow">
            <a:avLst/>
          </a:prstGeom>
          <a:solidFill>
            <a:schemeClr val="accent1"/>
          </a:solidFill>
          <a:ln/>
        </p:spPr>
      </p:sp>
      <p:sp>
        <p:nvSpPr>
          <p:cNvPr id="13" name="Text 11"/>
          <p:cNvSpPr txBox="1"/>
          <p:nvPr/>
        </p:nvSpPr>
        <p:spPr>
          <a:xfrm>
            <a:off x="3840480" y="2569464"/>
            <a:ext cx="3246120" cy="713232"/>
          </a:xfrm>
          <a:prstGeom prst="rect">
            <a:avLst/>
          </a:prstGeom>
          <a:noFill/>
          <a:ln/>
        </p:spPr>
        <p:txBody>
          <a:bodyPr wrap="square" lIns="0" tIns="0" rIns="0" bIns="0" rtlCol="0" anchor="ctr"/>
          <a:lstStyle/>
          <a:p>
            <a:pPr indent="0" marL="0">
              <a:buNone/>
            </a:pPr>
            <a:r>
              <a:rPr lang="en-US" sz="1400" dirty="0">
                <a:solidFill>
                  <a:schemeClr val="tx1"/>
                </a:solidFill>
              </a:rPr>
              <a:t>Boom skirt, manual crew and existing screens act as further lines</a:t>
            </a:r>
            <a:endParaRPr lang="en-US" sz="1400" dirty="0"/>
          </a:p>
        </p:txBody>
      </p:sp>
      <p:sp>
        <p:nvSpPr>
          <p:cNvPr id="14" name="Shape 12"/>
          <p:cNvSpPr/>
          <p:nvPr/>
        </p:nvSpPr>
        <p:spPr>
          <a:xfrm>
            <a:off x="548640" y="3355848"/>
            <a:ext cx="6675120" cy="713232"/>
          </a:xfrm>
          <a:prstGeom prst="roundRect">
            <a:avLst>
              <a:gd name="adj" fmla="val 12821"/>
            </a:avLst>
          </a:prstGeom>
          <a:solidFill>
            <a:schemeClr val="bg2"/>
          </a:solidFill>
          <a:ln/>
        </p:spPr>
      </p:sp>
      <p:sp>
        <p:nvSpPr>
          <p:cNvPr id="15" name="Text 13"/>
          <p:cNvSpPr txBox="1"/>
          <p:nvPr/>
        </p:nvSpPr>
        <p:spPr>
          <a:xfrm>
            <a:off x="777240" y="3355848"/>
            <a:ext cx="2606040" cy="713232"/>
          </a:xfrm>
          <a:prstGeom prst="rect">
            <a:avLst/>
          </a:prstGeom>
          <a:noFill/>
          <a:ln/>
        </p:spPr>
        <p:txBody>
          <a:bodyPr wrap="square" lIns="0" tIns="0" rIns="0" bIns="0" rtlCol="0" anchor="ctr"/>
          <a:lstStyle/>
          <a:p>
            <a:pPr indent="0" marL="0">
              <a:buNone/>
            </a:pPr>
            <a:r>
              <a:rPr lang="en-US" sz="1400" b="1" dirty="0">
                <a:solidFill>
                  <a:schemeClr val="accent2"/>
                </a:solidFill>
              </a:rPr>
              <a:t>Boom face can clog; intake flow may change</a:t>
            </a:r>
            <a:endParaRPr lang="en-US" sz="1400" dirty="0"/>
          </a:p>
        </p:txBody>
      </p:sp>
      <p:sp>
        <p:nvSpPr>
          <p:cNvPr id="16" name="Shape 14"/>
          <p:cNvSpPr/>
          <p:nvPr/>
        </p:nvSpPr>
        <p:spPr>
          <a:xfrm>
            <a:off x="3474720" y="3584448"/>
            <a:ext cx="256032" cy="256032"/>
          </a:xfrm>
          <a:prstGeom prst="rightArrow">
            <a:avLst/>
          </a:prstGeom>
          <a:solidFill>
            <a:schemeClr val="accent1"/>
          </a:solidFill>
          <a:ln/>
        </p:spPr>
      </p:sp>
      <p:sp>
        <p:nvSpPr>
          <p:cNvPr id="17" name="Text 15"/>
          <p:cNvSpPr txBox="1"/>
          <p:nvPr/>
        </p:nvSpPr>
        <p:spPr>
          <a:xfrm>
            <a:off x="3840480" y="3355848"/>
            <a:ext cx="3246120" cy="713232"/>
          </a:xfrm>
          <a:prstGeom prst="rect">
            <a:avLst/>
          </a:prstGeom>
          <a:noFill/>
          <a:ln/>
        </p:spPr>
        <p:txBody>
          <a:bodyPr wrap="square" lIns="0" tIns="0" rIns="0" bIns="0" rtlCol="0" anchor="ctr"/>
          <a:lstStyle/>
          <a:p>
            <a:pPr indent="0" marL="0">
              <a:buNone/>
            </a:pPr>
            <a:r>
              <a:rPr lang="en-US" sz="1400" dirty="0">
                <a:solidFill>
                  <a:schemeClr val="tx1"/>
                </a:solidFill>
              </a:rPr>
              <a:t>Angle lets current clear the face; retract at pressure limit</a:t>
            </a:r>
            <a:endParaRPr lang="en-US" sz="1400" dirty="0"/>
          </a:p>
        </p:txBody>
      </p:sp>
      <p:sp>
        <p:nvSpPr>
          <p:cNvPr id="18" name="Shape 16"/>
          <p:cNvSpPr/>
          <p:nvPr/>
        </p:nvSpPr>
        <p:spPr>
          <a:xfrm>
            <a:off x="548640" y="4142232"/>
            <a:ext cx="6675120" cy="713232"/>
          </a:xfrm>
          <a:prstGeom prst="roundRect">
            <a:avLst>
              <a:gd name="adj" fmla="val 12821"/>
            </a:avLst>
          </a:prstGeom>
          <a:solidFill>
            <a:schemeClr val="bg2"/>
          </a:solidFill>
          <a:ln/>
        </p:spPr>
      </p:sp>
      <p:sp>
        <p:nvSpPr>
          <p:cNvPr id="19" name="Text 17"/>
          <p:cNvSpPr txBox="1"/>
          <p:nvPr/>
        </p:nvSpPr>
        <p:spPr>
          <a:xfrm>
            <a:off x="777240" y="4142232"/>
            <a:ext cx="2606040" cy="713232"/>
          </a:xfrm>
          <a:prstGeom prst="rect">
            <a:avLst/>
          </a:prstGeom>
          <a:noFill/>
          <a:ln/>
        </p:spPr>
        <p:txBody>
          <a:bodyPr wrap="square" lIns="0" tIns="0" rIns="0" bIns="0" rtlCol="0" anchor="ctr"/>
          <a:lstStyle/>
          <a:p>
            <a:pPr indent="0" marL="0">
              <a:buNone/>
            </a:pPr>
            <a:r>
              <a:rPr lang="en-US" sz="1400" b="1" dirty="0">
                <a:solidFill>
                  <a:schemeClr val="accent2"/>
                </a:solidFill>
              </a:rPr>
              <a:t>Dense 30-45 cm bodies may resist lift</a:t>
            </a:r>
            <a:endParaRPr lang="en-US" sz="1400" dirty="0"/>
          </a:p>
        </p:txBody>
      </p:sp>
      <p:sp>
        <p:nvSpPr>
          <p:cNvPr id="20" name="Shape 18"/>
          <p:cNvSpPr/>
          <p:nvPr/>
        </p:nvSpPr>
        <p:spPr>
          <a:xfrm>
            <a:off x="3474720" y="4370832"/>
            <a:ext cx="256032" cy="256032"/>
          </a:xfrm>
          <a:prstGeom prst="rightArrow">
            <a:avLst/>
          </a:prstGeom>
          <a:solidFill>
            <a:schemeClr val="accent1"/>
          </a:solidFill>
          <a:ln/>
        </p:spPr>
      </p:sp>
      <p:sp>
        <p:nvSpPr>
          <p:cNvPr id="21" name="Text 19"/>
          <p:cNvSpPr txBox="1"/>
          <p:nvPr/>
        </p:nvSpPr>
        <p:spPr>
          <a:xfrm>
            <a:off x="3840480" y="4142232"/>
            <a:ext cx="3246120" cy="713232"/>
          </a:xfrm>
          <a:prstGeom prst="rect">
            <a:avLst/>
          </a:prstGeom>
          <a:noFill/>
          <a:ln/>
        </p:spPr>
        <p:txBody>
          <a:bodyPr wrap="square" lIns="0" tIns="0" rIns="0" bIns="0" rtlCol="0" anchor="ctr"/>
          <a:lstStyle/>
          <a:p>
            <a:pPr indent="0" marL="0">
              <a:buNone/>
            </a:pPr>
            <a:r>
              <a:rPr lang="en-US" sz="1400" dirty="0">
                <a:solidFill>
                  <a:schemeClr val="tx1"/>
                </a:solidFill>
              </a:rPr>
              <a:t>Test lift in the flume with density-matched analogues</a:t>
            </a:r>
            <a:endParaRPr lang="en-US" sz="1400" dirty="0"/>
          </a:p>
        </p:txBody>
      </p:sp>
      <p:sp>
        <p:nvSpPr>
          <p:cNvPr id="22" name="Shape 20"/>
          <p:cNvSpPr/>
          <p:nvPr/>
        </p:nvSpPr>
        <p:spPr>
          <a:xfrm>
            <a:off x="548640" y="4928616"/>
            <a:ext cx="6675120" cy="713232"/>
          </a:xfrm>
          <a:prstGeom prst="roundRect">
            <a:avLst>
              <a:gd name="adj" fmla="val 12821"/>
            </a:avLst>
          </a:prstGeom>
          <a:solidFill>
            <a:schemeClr val="bg2"/>
          </a:solidFill>
          <a:ln/>
        </p:spPr>
      </p:sp>
      <p:sp>
        <p:nvSpPr>
          <p:cNvPr id="23" name="Text 21"/>
          <p:cNvSpPr txBox="1"/>
          <p:nvPr/>
        </p:nvSpPr>
        <p:spPr>
          <a:xfrm>
            <a:off x="777240" y="4928616"/>
            <a:ext cx="2606040" cy="713232"/>
          </a:xfrm>
          <a:prstGeom prst="rect">
            <a:avLst/>
          </a:prstGeom>
          <a:noFill/>
          <a:ln/>
        </p:spPr>
        <p:txBody>
          <a:bodyPr wrap="square" lIns="0" tIns="0" rIns="0" bIns="0" rtlCol="0" anchor="ctr"/>
          <a:lstStyle/>
          <a:p>
            <a:pPr indent="0" marL="0">
              <a:buNone/>
            </a:pPr>
            <a:r>
              <a:rPr lang="en-US" sz="1400" b="1" dirty="0">
                <a:solidFill>
                  <a:schemeClr val="accent2"/>
                </a:solidFill>
              </a:rPr>
              <a:t>Sensor counts may be wrong in turbid water</a:t>
            </a:r>
            <a:endParaRPr lang="en-US" sz="1400" dirty="0"/>
          </a:p>
        </p:txBody>
      </p:sp>
      <p:sp>
        <p:nvSpPr>
          <p:cNvPr id="24" name="Shape 22"/>
          <p:cNvSpPr/>
          <p:nvPr/>
        </p:nvSpPr>
        <p:spPr>
          <a:xfrm>
            <a:off x="3474720" y="5157216"/>
            <a:ext cx="256032" cy="256032"/>
          </a:xfrm>
          <a:prstGeom prst="rightArrow">
            <a:avLst/>
          </a:prstGeom>
          <a:solidFill>
            <a:schemeClr val="accent1"/>
          </a:solidFill>
          <a:ln/>
        </p:spPr>
      </p:sp>
      <p:sp>
        <p:nvSpPr>
          <p:cNvPr id="25" name="Text 23"/>
          <p:cNvSpPr txBox="1"/>
          <p:nvPr/>
        </p:nvSpPr>
        <p:spPr>
          <a:xfrm>
            <a:off x="3840480" y="4928616"/>
            <a:ext cx="3246120" cy="713232"/>
          </a:xfrm>
          <a:prstGeom prst="rect">
            <a:avLst/>
          </a:prstGeom>
          <a:noFill/>
          <a:ln/>
        </p:spPr>
        <p:txBody>
          <a:bodyPr wrap="square" lIns="0" tIns="0" rIns="0" bIns="0" rtlCol="0" anchor="ctr"/>
          <a:lstStyle/>
          <a:p>
            <a:pPr indent="0" marL="0">
              <a:buNone/>
            </a:pPr>
            <a:r>
              <a:rPr lang="en-US" sz="1400" dirty="0">
                <a:solidFill>
                  <a:schemeClr val="tx1"/>
                </a:solidFill>
              </a:rPr>
              <a:t>Conservative defaults, operator override, counts validated in the flume</a:t>
            </a:r>
            <a:endParaRPr lang="en-US" sz="1400" dirty="0"/>
          </a:p>
        </p:txBody>
      </p:sp>
      <p:sp>
        <p:nvSpPr>
          <p:cNvPr id="26" name="Shape 24"/>
          <p:cNvSpPr/>
          <p:nvPr/>
        </p:nvSpPr>
        <p:spPr>
          <a:xfrm>
            <a:off x="7589520" y="1508760"/>
            <a:ext cx="4023360" cy="4160520"/>
          </a:xfrm>
          <a:prstGeom prst="roundRect">
            <a:avLst>
              <a:gd name="adj" fmla="val 2273"/>
            </a:avLst>
          </a:prstGeom>
          <a:solidFill>
            <a:schemeClr val="tx1"/>
          </a:solidFill>
          <a:ln/>
        </p:spPr>
      </p:sp>
      <p:sp>
        <p:nvSpPr>
          <p:cNvPr id="27" name="Text 25"/>
          <p:cNvSpPr txBox="1"/>
          <p:nvPr/>
        </p:nvSpPr>
        <p:spPr>
          <a:xfrm>
            <a:off x="7863840" y="1691640"/>
            <a:ext cx="3474720" cy="365760"/>
          </a:xfrm>
          <a:prstGeom prst="rect">
            <a:avLst/>
          </a:prstGeom>
          <a:noFill/>
          <a:ln/>
        </p:spPr>
        <p:txBody>
          <a:bodyPr wrap="square" lIns="0" tIns="0" rIns="0" bIns="0" rtlCol="0" anchor="t"/>
          <a:lstStyle/>
          <a:p>
            <a:pPr indent="0" marL="0">
              <a:buNone/>
            </a:pPr>
            <a:r>
              <a:rPr lang="en-US" sz="2000" b="1" dirty="0">
                <a:solidFill>
                  <a:schemeClr val="accent3"/>
                </a:solidFill>
              </a:rPr>
              <a:t>Marine-life safeguards</a:t>
            </a:r>
            <a:endParaRPr lang="en-US" sz="2000" dirty="0"/>
          </a:p>
        </p:txBody>
      </p:sp>
      <p:sp>
        <p:nvSpPr>
          <p:cNvPr id="28" name="Text 26"/>
          <p:cNvSpPr txBox="1"/>
          <p:nvPr/>
        </p:nvSpPr>
        <p:spPr>
          <a:xfrm>
            <a:off x="7863840" y="2194560"/>
            <a:ext cx="3474720" cy="33832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Air and floating guides only: no chemicals, no shredding</a:t>
            </a:r>
            <a:endParaRPr lang="en-US" sz="1500" dirty="0"/>
          </a:p>
          <a:p>
            <a:pPr marL="342900" indent="-342900">
              <a:spcAft>
                <a:spcPts val="600"/>
              </a:spcAft>
              <a:buSzPct val="100000"/>
              <a:buChar char="•"/>
            </a:pPr>
            <a:r>
              <a:rPr lang="en-US" sz="1500" dirty="0">
                <a:solidFill>
                  <a:schemeClr val="bg1"/>
                </a:solidFill>
              </a:rPr>
              <a:t>Gentle handling aims to release jellyfish alive, away from the intake; survival is measured</a:t>
            </a:r>
            <a:endParaRPr lang="en-US" sz="1500" dirty="0"/>
          </a:p>
          <a:p>
            <a:pPr marL="342900" indent="-342900">
              <a:spcAft>
                <a:spcPts val="600"/>
              </a:spcAft>
              <a:buSzPct val="100000"/>
              <a:buChar char="•"/>
            </a:pPr>
            <a:r>
              <a:rPr lang="en-US" sz="1500" dirty="0">
                <a:solidFill>
                  <a:schemeClr val="bg1"/>
                </a:solidFill>
              </a:rPr>
              <a:t>Non-target animals are detected before handling; pause and release by protocol</a:t>
            </a:r>
            <a:endParaRPr lang="en-US" sz="1500" dirty="0"/>
          </a:p>
          <a:p>
            <a:pPr marL="342900" indent="-342900">
              <a:spcAft>
                <a:spcPts val="600"/>
              </a:spcAft>
              <a:buSzPct val="100000"/>
              <a:buChar char="•"/>
            </a:pPr>
            <a:r>
              <a:rPr lang="en-US" sz="1500" dirty="0">
                <a:solidFill>
                  <a:schemeClr val="bg1"/>
                </a:solidFill>
              </a:rPr>
              <a:t>Bubble noise and light effects on fish are measured in sheltered-sea tests</a:t>
            </a:r>
            <a:endParaRPr lang="en-US" sz="1500" dirty="0"/>
          </a:p>
          <a:p>
            <a:pPr marL="342900" indent="-342900">
              <a:spcAft>
                <a:spcPts val="600"/>
              </a:spcAft>
              <a:buSzPct val="100000"/>
              <a:buChar char="•"/>
            </a:pPr>
            <a:r>
              <a:rPr lang="en-US" sz="1500" dirty="0">
                <a:solidFill>
                  <a:schemeClr val="bg1"/>
                </a:solidFill>
              </a:rPr>
              <a:t>Mass balance recorded: delivered, held, escaped, bycatch</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1"/>
                </a:solidFill>
              </a:rPr>
              <a:t>08  |  COST, SCALE AND TEST PLAN</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tx1"/>
                </a:solidFill>
              </a:rPr>
              <a:t>Low-cost, modular, and testable before any pilot</a:t>
            </a:r>
            <a:endParaRPr lang="en-US" sz="2800" dirty="0"/>
          </a:p>
        </p:txBody>
      </p:sp>
      <p:sp>
        <p:nvSpPr>
          <p:cNvPr id="4" name="Shape 2"/>
          <p:cNvSpPr/>
          <p:nvPr/>
        </p:nvSpPr>
        <p:spPr>
          <a:xfrm>
            <a:off x="548640" y="1508760"/>
            <a:ext cx="5120640" cy="3520440"/>
          </a:xfrm>
          <a:prstGeom prst="roundRect">
            <a:avLst>
              <a:gd name="adj" fmla="val 2597"/>
            </a:avLst>
          </a:prstGeom>
          <a:solidFill>
            <a:schemeClr val="bg2"/>
          </a:solidFill>
          <a:ln/>
        </p:spPr>
      </p:sp>
      <p:sp>
        <p:nvSpPr>
          <p:cNvPr id="5" name="Text 3"/>
          <p:cNvSpPr txBox="1"/>
          <p:nvPr/>
        </p:nvSpPr>
        <p:spPr>
          <a:xfrm>
            <a:off x="822960" y="1691640"/>
            <a:ext cx="4572000" cy="365760"/>
          </a:xfrm>
          <a:prstGeom prst="rect">
            <a:avLst/>
          </a:prstGeom>
          <a:noFill/>
          <a:ln/>
        </p:spPr>
        <p:txBody>
          <a:bodyPr wrap="square" lIns="0" tIns="0" rIns="0" bIns="0" rtlCol="0" anchor="t"/>
          <a:lstStyle/>
          <a:p>
            <a:pPr indent="0" marL="0">
              <a:buNone/>
            </a:pPr>
            <a:r>
              <a:rPr lang="en-US" sz="2000" b="1" dirty="0">
                <a:solidFill>
                  <a:schemeClr val="accent1"/>
                </a:solidFill>
              </a:rPr>
              <a:t>Cost-conscious by design</a:t>
            </a:r>
            <a:endParaRPr lang="en-US" sz="2000" dirty="0"/>
          </a:p>
        </p:txBody>
      </p:sp>
      <p:sp>
        <p:nvSpPr>
          <p:cNvPr id="6" name="Text 4"/>
          <p:cNvSpPr txBox="1"/>
          <p:nvPr/>
        </p:nvSpPr>
        <p:spPr>
          <a:xfrm>
            <a:off x="822960" y="2194560"/>
            <a:ext cx="4572000" cy="21945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tx1"/>
                </a:solidFill>
              </a:rPr>
              <a:t>Passive first: </a:t>
            </a:r>
            <a:pPr indent="0" marL="0">
              <a:spcAft>
                <a:spcPts val="800"/>
              </a:spcAft>
              <a:buNone/>
            </a:pPr>
            <a:r>
              <a:rPr lang="en-US" sz="1400" dirty="0">
                <a:solidFill>
                  <a:schemeClr val="tx1"/>
                </a:solidFill>
              </a:rPr>
              <a:t>boom needs no power; air runs only while jellyfish arrive</a:t>
            </a:r>
            <a:endParaRPr lang="en-US" sz="1400" dirty="0"/>
          </a:p>
          <a:p>
            <a:pPr marL="342900" indent="-342900">
              <a:spcAft>
                <a:spcPts val="800"/>
              </a:spcAft>
              <a:buSzPct val="100000"/>
              <a:buChar char="•"/>
            </a:pPr>
            <a:r>
              <a:rPr lang="en-US" sz="1400" b="1" dirty="0">
                <a:solidFill>
                  <a:schemeClr val="tx1"/>
                </a:solidFill>
              </a:rPr>
              <a:t>Modular: </a:t>
            </a:r>
            <a:pPr indent="0" marL="0">
              <a:spcAft>
                <a:spcPts val="800"/>
              </a:spcAft>
              <a:buNone/>
            </a:pPr>
            <a:r>
              <a:rPr lang="en-US" sz="1400" dirty="0">
                <a:solidFill>
                  <a:schemeClr val="tx1"/>
                </a:solidFill>
              </a:rPr>
              <a:t>sections are repaired or extended one at a time</a:t>
            </a:r>
            <a:endParaRPr lang="en-US" sz="1400" dirty="0"/>
          </a:p>
          <a:p>
            <a:pPr marL="342900" indent="-342900">
              <a:spcAft>
                <a:spcPts val="800"/>
              </a:spcAft>
              <a:buSzPct val="100000"/>
              <a:buChar char="•"/>
            </a:pPr>
            <a:r>
              <a:rPr lang="en-US" sz="1400" b="1" dirty="0">
                <a:solidFill>
                  <a:schemeClr val="tx1"/>
                </a:solidFill>
              </a:rPr>
              <a:t>Off-the-shelf: </a:t>
            </a:r>
            <a:pPr indent="0" marL="0">
              <a:spcAft>
                <a:spcPts val="800"/>
              </a:spcAft>
              <a:buNone/>
            </a:pPr>
            <a:r>
              <a:rPr lang="en-US" sz="1400" dirty="0">
                <a:solidFill>
                  <a:schemeClr val="tx1"/>
                </a:solidFill>
              </a:rPr>
              <a:t>booms, diffuser hose, compressors, pumps</a:t>
            </a:r>
            <a:endParaRPr lang="en-US" sz="1400" dirty="0"/>
          </a:p>
          <a:p>
            <a:pPr marL="342900" indent="-342900">
              <a:spcAft>
                <a:spcPts val="800"/>
              </a:spcAft>
              <a:buSzPct val="100000"/>
              <a:buChar char="•"/>
            </a:pPr>
            <a:r>
              <a:rPr lang="en-US" sz="1400" b="1" dirty="0">
                <a:solidFill>
                  <a:schemeClr val="tx1"/>
                </a:solidFill>
              </a:rPr>
              <a:t>Scales by length: </a:t>
            </a:r>
            <a:pPr indent="0" marL="0">
              <a:spcAft>
                <a:spcPts val="800"/>
              </a:spcAft>
              <a:buNone/>
            </a:pPr>
            <a:r>
              <a:rPr lang="en-US" sz="1400" dirty="0">
                <a:solidFill>
                  <a:schemeClr val="tx1"/>
                </a:solidFill>
              </a:rPr>
              <a:t>add sections for a wider channel</a:t>
            </a:r>
            <a:endParaRPr lang="en-US" sz="1400" dirty="0"/>
          </a:p>
          <a:p>
            <a:pPr marL="342900" indent="-342900">
              <a:spcAft>
                <a:spcPts val="800"/>
              </a:spcAft>
              <a:buSzPct val="100000"/>
              <a:buChar char="•"/>
            </a:pPr>
            <a:r>
              <a:rPr lang="en-US" sz="1400" b="1" dirty="0">
                <a:solidFill>
                  <a:schemeClr val="tx1"/>
                </a:solidFill>
              </a:rPr>
              <a:t>Layer 3 crew on call: </a:t>
            </a:r>
            <a:pPr indent="0" marL="0">
              <a:spcAft>
                <a:spcPts val="800"/>
              </a:spcAft>
              <a:buNone/>
            </a:pPr>
            <a:r>
              <a:rPr lang="en-US" sz="1400" dirty="0">
                <a:solidFill>
                  <a:schemeClr val="tx1"/>
                </a:solidFill>
              </a:rPr>
              <a:t>manual catch is a rare backup</a:t>
            </a:r>
            <a:endParaRPr lang="en-US" sz="1400" dirty="0"/>
          </a:p>
        </p:txBody>
      </p:sp>
      <p:sp>
        <p:nvSpPr>
          <p:cNvPr id="7" name="Text 5"/>
          <p:cNvSpPr txBox="1"/>
          <p:nvPr/>
        </p:nvSpPr>
        <p:spPr>
          <a:xfrm>
            <a:off x="822960" y="4434840"/>
            <a:ext cx="4572000" cy="457200"/>
          </a:xfrm>
          <a:prstGeom prst="rect">
            <a:avLst/>
          </a:prstGeom>
          <a:noFill/>
          <a:ln/>
        </p:spPr>
        <p:txBody>
          <a:bodyPr wrap="square" lIns="0" tIns="0" rIns="0" bIns="0" rtlCol="0" anchor="t"/>
          <a:lstStyle/>
          <a:p>
            <a:pPr indent="0" marL="0">
              <a:buNone/>
            </a:pPr>
            <a:r>
              <a:rPr lang="en-US" sz="1200" dirty="0">
                <a:solidFill>
                  <a:schemeClr val="accent5"/>
                </a:solidFill>
              </a:rPr>
              <a:t>Capital and running costs need supplier quotes; none are assumed here.</a:t>
            </a:r>
            <a:endParaRPr lang="en-US" sz="1200" dirty="0"/>
          </a:p>
        </p:txBody>
      </p:sp>
      <p:sp>
        <p:nvSpPr>
          <p:cNvPr id="8" name="Shape 6"/>
          <p:cNvSpPr/>
          <p:nvPr/>
        </p:nvSpPr>
        <p:spPr>
          <a:xfrm>
            <a:off x="6035040" y="1554480"/>
            <a:ext cx="457200" cy="457200"/>
          </a:xfrm>
          <a:prstGeom prst="ellipse">
            <a:avLst/>
          </a:prstGeom>
          <a:solidFill>
            <a:schemeClr val="accent1"/>
          </a:solidFill>
          <a:ln w="19050">
            <a:solidFill>
              <a:schemeClr val="bg1"/>
            </a:solidFill>
            <a:prstDash val="solid"/>
          </a:ln>
        </p:spPr>
      </p:sp>
      <p:sp>
        <p:nvSpPr>
          <p:cNvPr id="9" name="Text 7"/>
          <p:cNvSpPr txBox="1"/>
          <p:nvPr/>
        </p:nvSpPr>
        <p:spPr>
          <a:xfrm>
            <a:off x="6035040" y="15544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0" name="Text 8"/>
          <p:cNvSpPr txBox="1"/>
          <p:nvPr/>
        </p:nvSpPr>
        <p:spPr>
          <a:xfrm>
            <a:off x="6675120" y="1508760"/>
            <a:ext cx="4937760" cy="320040"/>
          </a:xfrm>
          <a:prstGeom prst="rect">
            <a:avLst/>
          </a:prstGeom>
          <a:noFill/>
          <a:ln/>
        </p:spPr>
        <p:txBody>
          <a:bodyPr wrap="square" lIns="0" tIns="0" rIns="0" bIns="0" rtlCol="0" anchor="t"/>
          <a:lstStyle/>
          <a:p>
            <a:pPr indent="0" marL="0">
              <a:buNone/>
            </a:pPr>
            <a:r>
              <a:rPr lang="en-US" sz="1800" b="1" dirty="0">
                <a:solidFill>
                  <a:schemeClr val="tx1"/>
                </a:solidFill>
              </a:rPr>
              <a:t>Bench flume (Demo Days)</a:t>
            </a:r>
            <a:endParaRPr lang="en-US" sz="1800" dirty="0"/>
          </a:p>
        </p:txBody>
      </p:sp>
      <p:sp>
        <p:nvSpPr>
          <p:cNvPr id="11" name="Text 9"/>
          <p:cNvSpPr txBox="1"/>
          <p:nvPr/>
        </p:nvSpPr>
        <p:spPr>
          <a:xfrm>
            <a:off x="6675120" y="1856232"/>
            <a:ext cx="4937760" cy="731520"/>
          </a:xfrm>
          <a:prstGeom prst="rect">
            <a:avLst/>
          </a:prstGeom>
          <a:noFill/>
          <a:ln/>
        </p:spPr>
        <p:txBody>
          <a:bodyPr wrap="square" lIns="0" tIns="0" rIns="0" bIns="0" rtlCol="0" anchor="t"/>
          <a:lstStyle/>
          <a:p>
            <a:pPr indent="0" marL="0">
              <a:buNone/>
            </a:pPr>
            <a:r>
              <a:rPr lang="en-US" sz="1400" dirty="0">
                <a:solidFill>
                  <a:schemeClr val="tx1"/>
                </a:solidFill>
              </a:rPr>
              <a:t>Scaled curtain and boom with density-matched analogues. Test the controller on changing arrival rates and directions.</a:t>
            </a:r>
            <a:endParaRPr lang="en-US" sz="1400" dirty="0"/>
          </a:p>
        </p:txBody>
      </p:sp>
      <p:sp>
        <p:nvSpPr>
          <p:cNvPr id="12" name="Shape 10"/>
          <p:cNvSpPr/>
          <p:nvPr/>
        </p:nvSpPr>
        <p:spPr>
          <a:xfrm>
            <a:off x="6035040" y="2743200"/>
            <a:ext cx="457200" cy="457200"/>
          </a:xfrm>
          <a:prstGeom prst="ellipse">
            <a:avLst/>
          </a:prstGeom>
          <a:solidFill>
            <a:schemeClr val="accent1"/>
          </a:solidFill>
          <a:ln w="19050">
            <a:solidFill>
              <a:schemeClr val="bg1"/>
            </a:solidFill>
            <a:prstDash val="solid"/>
          </a:ln>
        </p:spPr>
      </p:sp>
      <p:sp>
        <p:nvSpPr>
          <p:cNvPr id="13" name="Text 11"/>
          <p:cNvSpPr txBox="1"/>
          <p:nvPr/>
        </p:nvSpPr>
        <p:spPr>
          <a:xfrm>
            <a:off x="6035040" y="27432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2"/>
          <p:cNvSpPr txBox="1"/>
          <p:nvPr/>
        </p:nvSpPr>
        <p:spPr>
          <a:xfrm>
            <a:off x="6675120" y="2697480"/>
            <a:ext cx="4937760" cy="320040"/>
          </a:xfrm>
          <a:prstGeom prst="rect">
            <a:avLst/>
          </a:prstGeom>
          <a:noFill/>
          <a:ln/>
        </p:spPr>
        <p:txBody>
          <a:bodyPr wrap="square" lIns="0" tIns="0" rIns="0" bIns="0" rtlCol="0" anchor="t"/>
          <a:lstStyle/>
          <a:p>
            <a:pPr indent="0" marL="0">
              <a:buNone/>
            </a:pPr>
            <a:r>
              <a:rPr lang="en-US" sz="1800" b="1" dirty="0">
                <a:solidFill>
                  <a:schemeClr val="tx1"/>
                </a:solidFill>
              </a:rPr>
              <a:t>Sheltered-water trial</a:t>
            </a:r>
            <a:endParaRPr lang="en-US" sz="1800" dirty="0"/>
          </a:p>
        </p:txBody>
      </p:sp>
      <p:sp>
        <p:nvSpPr>
          <p:cNvPr id="15" name="Text 13"/>
          <p:cNvSpPr txBox="1"/>
          <p:nvPr/>
        </p:nvSpPr>
        <p:spPr>
          <a:xfrm>
            <a:off x="6675120" y="3044952"/>
            <a:ext cx="4937760" cy="731520"/>
          </a:xfrm>
          <a:prstGeom prst="rect">
            <a:avLst/>
          </a:prstGeom>
          <a:noFill/>
          <a:ln/>
        </p:spPr>
        <p:txBody>
          <a:bodyPr wrap="square" lIns="0" tIns="0" rIns="0" bIns="0" rtlCol="0" anchor="t"/>
          <a:lstStyle/>
          <a:p>
            <a:pPr indent="0" marL="0">
              <a:buNone/>
            </a:pPr>
            <a:r>
              <a:rPr lang="en-US" sz="1400" dirty="0">
                <a:solidFill>
                  <a:schemeClr val="tx1"/>
                </a:solidFill>
              </a:rPr>
              <a:t>Permitted deployment with ecological observation, load cells and intake-pressure logging.</a:t>
            </a:r>
            <a:endParaRPr lang="en-US" sz="1400" dirty="0"/>
          </a:p>
        </p:txBody>
      </p:sp>
      <p:sp>
        <p:nvSpPr>
          <p:cNvPr id="16" name="Shape 14"/>
          <p:cNvSpPr/>
          <p:nvPr/>
        </p:nvSpPr>
        <p:spPr>
          <a:xfrm>
            <a:off x="6035040" y="3931920"/>
            <a:ext cx="457200" cy="457200"/>
          </a:xfrm>
          <a:prstGeom prst="ellipse">
            <a:avLst/>
          </a:prstGeom>
          <a:solidFill>
            <a:schemeClr val="accent1"/>
          </a:solidFill>
          <a:ln w="19050">
            <a:solidFill>
              <a:schemeClr val="bg1"/>
            </a:solidFill>
            <a:prstDash val="solid"/>
          </a:ln>
        </p:spPr>
      </p:sp>
      <p:sp>
        <p:nvSpPr>
          <p:cNvPr id="17" name="Text 15"/>
          <p:cNvSpPr txBox="1"/>
          <p:nvPr/>
        </p:nvSpPr>
        <p:spPr>
          <a:xfrm>
            <a:off x="6035040" y="39319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Text 16"/>
          <p:cNvSpPr txBox="1"/>
          <p:nvPr/>
        </p:nvSpPr>
        <p:spPr>
          <a:xfrm>
            <a:off x="6675120" y="3886200"/>
            <a:ext cx="4937760" cy="320040"/>
          </a:xfrm>
          <a:prstGeom prst="rect">
            <a:avLst/>
          </a:prstGeom>
          <a:noFill/>
          <a:ln/>
        </p:spPr>
        <p:txBody>
          <a:bodyPr wrap="square" lIns="0" tIns="0" rIns="0" bIns="0" rtlCol="0" anchor="t"/>
          <a:lstStyle/>
          <a:p>
            <a:pPr indent="0" marL="0">
              <a:buNone/>
            </a:pPr>
            <a:r>
              <a:rPr lang="en-US" sz="1800" b="1" dirty="0">
                <a:solidFill>
                  <a:schemeClr val="tx1"/>
                </a:solidFill>
              </a:rPr>
              <a:t>ENEC-approved pilot</a:t>
            </a:r>
            <a:endParaRPr lang="en-US" sz="1800" dirty="0"/>
          </a:p>
        </p:txBody>
      </p:sp>
      <p:sp>
        <p:nvSpPr>
          <p:cNvPr id="19" name="Text 17"/>
          <p:cNvSpPr txBox="1"/>
          <p:nvPr/>
        </p:nvSpPr>
        <p:spPr>
          <a:xfrm>
            <a:off x="6675120" y="4233672"/>
            <a:ext cx="4937760" cy="731520"/>
          </a:xfrm>
          <a:prstGeom prst="rect">
            <a:avLst/>
          </a:prstGeom>
          <a:noFill/>
          <a:ln/>
        </p:spPr>
        <p:txBody>
          <a:bodyPr wrap="square" lIns="0" tIns="0" rIns="0" bIns="0" rtlCol="0" anchor="t"/>
          <a:lstStyle/>
          <a:p>
            <a:pPr indent="0" marL="0">
              <a:buNone/>
            </a:pPr>
            <a:r>
              <a:rPr lang="en-US" sz="1400" dirty="0">
                <a:solidFill>
                  <a:schemeClr val="tx1"/>
                </a:solidFill>
              </a:rPr>
              <a:t>Operator-led demonstration under approved boundaries, with no change to plant systems.</a:t>
            </a:r>
            <a:endParaRPr lang="en-US" sz="1400" dirty="0"/>
          </a:p>
        </p:txBody>
      </p:sp>
      <p:sp>
        <p:nvSpPr>
          <p:cNvPr id="20" name="Shape 18"/>
          <p:cNvSpPr/>
          <p:nvPr/>
        </p:nvSpPr>
        <p:spPr>
          <a:xfrm>
            <a:off x="548640" y="5257800"/>
            <a:ext cx="11064240" cy="868680"/>
          </a:xfrm>
          <a:prstGeom prst="roundRect">
            <a:avLst>
              <a:gd name="adj" fmla="val 10526"/>
            </a:avLst>
          </a:prstGeom>
          <a:solidFill>
            <a:schemeClr val="tx1"/>
          </a:solidFill>
          <a:ln/>
        </p:spPr>
      </p:sp>
      <p:sp>
        <p:nvSpPr>
          <p:cNvPr id="21" name="Text 19"/>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500" b="1" dirty="0">
                <a:solidFill>
                  <a:schemeClr val="accent3"/>
                </a:solidFill>
              </a:rPr>
              <a:t>To prove  </a:t>
            </a:r>
            <a:pPr indent="0" marL="0">
              <a:buNone/>
            </a:pPr>
            <a:r>
              <a:rPr lang="en-US" sz="1500" dirty="0">
                <a:solidFill>
                  <a:schemeClr val="bg1"/>
                </a:solidFill>
              </a:rPr>
              <a:t>A clear cut in bloom mass reaching the intake versus no response (our screening model suggests roughly 50-65% in calm seas and about 12% in a 2 m storm, so flume tests must measure the real figure); the controller re-aims and stops correctly; bycatch, pressure change, kWh per tonne and staff-hours recorded.</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7315200" cy="237744"/>
          </a:xfrm>
          <a:prstGeom prst="rect">
            <a:avLst/>
          </a:prstGeom>
          <a:noFill/>
          <a:ln/>
        </p:spPr>
        <p:txBody>
          <a:bodyPr wrap="square" lIns="0" tIns="0" rIns="0" bIns="0" rtlCol="0" anchor="t"/>
          <a:lstStyle/>
          <a:p>
            <a:pPr indent="0" marL="0">
              <a:buNone/>
            </a:pPr>
            <a:r>
              <a:rPr lang="en-US" sz="1100" b="1" dirty="0">
                <a:solidFill>
                  <a:schemeClr val="accent3"/>
                </a:solidFill>
              </a:rPr>
              <a:t>09  |  ASSUMPTIONS AND SOURCES</a:t>
            </a:r>
            <a:endParaRPr lang="en-US" sz="1100" dirty="0"/>
          </a:p>
        </p:txBody>
      </p:sp>
      <p:sp>
        <p:nvSpPr>
          <p:cNvPr id="3" name="Text 0"/>
          <p:cNvSpPr/>
          <p:nvPr>
            <p:ph idx="100" type="title" hasCustomPrompt="1"/>
          </p:nvPr>
        </p:nvSpPr>
        <p:spPr>
          <a:xfrm>
            <a:off x="548640" y="621792"/>
            <a:ext cx="11064240" cy="731520"/>
          </a:xfrm>
          <a:prstGeom prst="rect">
            <a:avLst/>
          </a:prstGeom>
          <a:noFill/>
          <a:ln/>
        </p:spPr>
        <p:txBody>
          <a:bodyPr wrap="square" lIns="0" tIns="0" rIns="0" bIns="0" rtlCol="0" anchor="ctr"/>
          <a:lstStyle/>
          <a:p>
            <a:pPr algn="l" indent="0" marL="0">
              <a:buNone/>
            </a:pPr>
            <a:r>
              <a:rPr lang="en-US" sz="2800" b="1" dirty="0">
                <a:solidFill>
                  <a:schemeClr val="bg1"/>
                </a:solidFill>
              </a:rPr>
              <a:t>Assumptions, limits, and sources</a:t>
            </a:r>
            <a:endParaRPr lang="en-US" sz="2800" dirty="0"/>
          </a:p>
        </p:txBody>
      </p:sp>
      <p:sp>
        <p:nvSpPr>
          <p:cNvPr id="4" name="Text 2"/>
          <p:cNvSpPr txBox="1"/>
          <p:nvPr/>
        </p:nvSpPr>
        <p:spPr>
          <a:xfrm>
            <a:off x="548640" y="1508760"/>
            <a:ext cx="5303520" cy="237744"/>
          </a:xfrm>
          <a:prstGeom prst="rect">
            <a:avLst/>
          </a:prstGeom>
          <a:noFill/>
          <a:ln/>
        </p:spPr>
        <p:txBody>
          <a:bodyPr wrap="square" lIns="0" tIns="0" rIns="0" bIns="0" rtlCol="0" anchor="t"/>
          <a:lstStyle/>
          <a:p>
            <a:pPr indent="0" marL="0">
              <a:buNone/>
            </a:pPr>
            <a:r>
              <a:rPr lang="en-US" sz="1100" b="1" dirty="0">
                <a:solidFill>
                  <a:schemeClr val="accent3"/>
                </a:solidFill>
              </a:rPr>
              <a:t>KEY ASSUMPTIONS</a:t>
            </a:r>
            <a:endParaRPr lang="en-US" sz="1100" dirty="0"/>
          </a:p>
        </p:txBody>
      </p:sp>
      <p:sp>
        <p:nvSpPr>
          <p:cNvPr id="5" name="Text 3"/>
          <p:cNvSpPr txBox="1"/>
          <p:nvPr/>
        </p:nvSpPr>
        <p:spPr>
          <a:xfrm>
            <a:off x="548640" y="1828800"/>
            <a:ext cx="530352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Public information only; no ENEC facility or operating data used</a:t>
            </a:r>
            <a:endParaRPr lang="en-US" sz="1400" dirty="0"/>
          </a:p>
          <a:p>
            <a:pPr marL="342900" indent="-342900">
              <a:spcAft>
                <a:spcPts val="600"/>
              </a:spcAft>
              <a:buSzPct val="100000"/>
              <a:buChar char="•"/>
            </a:pPr>
            <a:r>
              <a:rPr lang="en-US" sz="1400" dirty="0">
                <a:solidFill>
                  <a:schemeClr val="bg1"/>
                </a:solidFill>
              </a:rPr>
              <a:t>Breakwater-sheltered approach with low waves (to confirm)</a:t>
            </a:r>
            <a:endParaRPr lang="en-US" sz="1400" dirty="0"/>
          </a:p>
          <a:p>
            <a:pPr marL="342900" indent="-342900">
              <a:spcAft>
                <a:spcPts val="600"/>
              </a:spcAft>
              <a:buSzPct val="100000"/>
              <a:buChar char="•"/>
            </a:pPr>
            <a:r>
              <a:rPr lang="en-US" sz="1400" dirty="0">
                <a:solidFill>
                  <a:schemeClr val="bg1"/>
                </a:solidFill>
              </a:rPr>
              <a:t>Target: Catostylus mosaicus, 30-45 cm, dense (ENEC brief); lift behavior untested</a:t>
            </a:r>
            <a:endParaRPr lang="en-US" sz="1400" dirty="0"/>
          </a:p>
          <a:p>
            <a:pPr marL="342900" indent="-342900">
              <a:spcAft>
                <a:spcPts val="600"/>
              </a:spcAft>
              <a:buSzPct val="100000"/>
              <a:buChar char="•"/>
            </a:pPr>
            <a:r>
              <a:rPr lang="en-US" sz="1400" dirty="0">
                <a:solidFill>
                  <a:schemeClr val="bg1"/>
                </a:solidFill>
              </a:rPr>
              <a:t>Current, depth and bathymetry unknown; boom angle and curtain length follow a site survey</a:t>
            </a:r>
            <a:endParaRPr lang="en-US" sz="1400" dirty="0"/>
          </a:p>
          <a:p>
            <a:pPr marL="342900" indent="-342900">
              <a:spcAft>
                <a:spcPts val="600"/>
              </a:spcAft>
              <a:buSzPct val="100000"/>
              <a:buChar char="•"/>
            </a:pPr>
            <a:r>
              <a:rPr lang="en-US" sz="1400" dirty="0">
                <a:solidFill>
                  <a:schemeClr val="bg1"/>
                </a:solidFill>
              </a:rPr>
              <a:t>Aquaculture and lab results do not guarantee performance at a nuclear intake</a:t>
            </a:r>
            <a:endParaRPr lang="en-US" sz="1400" dirty="0"/>
          </a:p>
          <a:p>
            <a:pPr marL="342900" indent="-342900">
              <a:spcAft>
                <a:spcPts val="600"/>
              </a:spcAft>
              <a:buSzPct val="100000"/>
              <a:buChar char="•"/>
            </a:pPr>
            <a:r>
              <a:rPr lang="en-US" sz="1400" dirty="0">
                <a:solidFill>
                  <a:schemeClr val="bg1"/>
                </a:solidFill>
              </a:rPr>
              <a:t>Sensor counts and the controller are unvalidated; first built and tuned on simulated and flume data</a:t>
            </a:r>
            <a:endParaRPr lang="en-US" sz="1400" dirty="0"/>
          </a:p>
        </p:txBody>
      </p:sp>
      <p:sp>
        <p:nvSpPr>
          <p:cNvPr id="6" name="Text 4"/>
          <p:cNvSpPr txBox="1"/>
          <p:nvPr/>
        </p:nvSpPr>
        <p:spPr>
          <a:xfrm>
            <a:off x="6309360" y="1508760"/>
            <a:ext cx="5303520" cy="237744"/>
          </a:xfrm>
          <a:prstGeom prst="rect">
            <a:avLst/>
          </a:prstGeom>
          <a:noFill/>
          <a:ln/>
        </p:spPr>
        <p:txBody>
          <a:bodyPr wrap="square" lIns="0" tIns="0" rIns="0" bIns="0" rtlCol="0" anchor="t"/>
          <a:lstStyle/>
          <a:p>
            <a:pPr indent="0" marL="0">
              <a:buNone/>
            </a:pPr>
            <a:r>
              <a:rPr lang="en-US" sz="1100" b="1" dirty="0">
                <a:solidFill>
                  <a:schemeClr val="accent3"/>
                </a:solidFill>
              </a:rPr>
              <a:t>SOURCES</a:t>
            </a:r>
            <a:endParaRPr lang="en-US" sz="1100" dirty="0"/>
          </a:p>
        </p:txBody>
      </p:sp>
      <p:sp>
        <p:nvSpPr>
          <p:cNvPr id="7" name="Text 5"/>
          <p:cNvSpPr txBox="1"/>
          <p:nvPr/>
        </p:nvSpPr>
        <p:spPr>
          <a:xfrm>
            <a:off x="6309360" y="1828800"/>
            <a:ext cx="5303520" cy="3474720"/>
          </a:xfrm>
          <a:prstGeom prst="rect">
            <a:avLst/>
          </a:prstGeom>
          <a:noFill/>
          <a:ln/>
        </p:spPr>
        <p:txBody>
          <a:bodyPr wrap="square" lIns="0" tIns="0" rIns="0" bIns="0" rtlCol="0" anchor="t"/>
          <a:lstStyle/>
          <a:p>
            <a:pPr indent="0" marL="0">
              <a:spcAft>
                <a:spcPts val="200"/>
              </a:spcAft>
              <a:buNone/>
            </a:pPr>
            <a:r>
              <a:rPr lang="en-US" sz="1200" dirty="0">
                <a:solidFill>
                  <a:schemeClr val="bg2"/>
                </a:solidFill>
              </a:rPr>
              <a:t>Lo (1991), IAHR: iahr.org/library/info?pid=6399</a:t>
            </a:r>
            <a:endParaRPr lang="en-US" sz="1200" dirty="0"/>
          </a:p>
          <a:p>
            <a:pPr indent="0" marL="0">
              <a:spcAft>
                <a:spcPts val="200"/>
              </a:spcAft>
              <a:buNone/>
            </a:pPr>
            <a:r>
              <a:rPr lang="en-US" sz="1200" dirty="0">
                <a:solidFill>
                  <a:schemeClr val="bg2"/>
                </a:solidFill>
              </a:rPr>
              <a:t>Lo (1996), Ocean Engineering 23(6): trid.trb.org/View/480225</a:t>
            </a:r>
            <a:endParaRPr lang="en-US" sz="1200" dirty="0"/>
          </a:p>
          <a:p>
            <a:pPr indent="0" marL="0">
              <a:spcAft>
                <a:spcPts val="200"/>
              </a:spcAft>
              <a:buNone/>
            </a:pPr>
            <a:r>
              <a:rPr lang="en-US" sz="1200" dirty="0">
                <a:solidFill>
                  <a:schemeClr val="bg2"/>
                </a:solidFill>
              </a:rPr>
              <a:t>Haberlin et al. (2021), Aquaculture: research.ucc.ie (bubble curtain study)</a:t>
            </a:r>
            <a:endParaRPr lang="en-US" sz="1200" dirty="0"/>
          </a:p>
          <a:p>
            <a:pPr indent="0" marL="0">
              <a:spcAft>
                <a:spcPts val="200"/>
              </a:spcAft>
              <a:buNone/>
            </a:pPr>
            <a:r>
              <a:rPr lang="en-US" sz="1200" dirty="0">
                <a:solidFill>
                  <a:schemeClr val="bg2"/>
                </a:solidFill>
              </a:rPr>
              <a:t>Ettema and Kubit (2000), ASCE: ascelibrary.com/doi/10.1061/40517(2000)236</a:t>
            </a:r>
            <a:endParaRPr lang="en-US" sz="1200" dirty="0"/>
          </a:p>
          <a:p>
            <a:pPr indent="0" marL="0">
              <a:spcAft>
                <a:spcPts val="200"/>
              </a:spcAft>
              <a:buNone/>
            </a:pPr>
            <a:r>
              <a:rPr lang="en-US" sz="1200" dirty="0">
                <a:solidFill>
                  <a:schemeClr val="bg2"/>
                </a:solidFill>
              </a:rPr>
              <a:t>Pulse Tasmania: Tassal bubble-curtain rollout</a:t>
            </a:r>
            <a:endParaRPr lang="en-US" sz="1200" dirty="0"/>
          </a:p>
          <a:p>
            <a:pPr indent="0" marL="0">
              <a:spcAft>
                <a:spcPts val="200"/>
              </a:spcAft>
              <a:buNone/>
            </a:pPr>
            <a:r>
              <a:rPr lang="en-US" sz="1200" dirty="0">
                <a:solidFill>
                  <a:schemeClr val="bg2"/>
                </a:solidFill>
              </a:rPr>
              <a:t>Eurofish: Mowi Portnalong bubble curtain</a:t>
            </a:r>
            <a:endParaRPr lang="en-US" sz="1200" dirty="0"/>
          </a:p>
          <a:p>
            <a:pPr indent="0" marL="0">
              <a:spcAft>
                <a:spcPts val="200"/>
              </a:spcAft>
              <a:buNone/>
            </a:pPr>
            <a:r>
              <a:rPr lang="en-US" sz="1200" dirty="0">
                <a:solidFill>
                  <a:schemeClr val="bg2"/>
                </a:solidFill>
              </a:rPr>
              <a:t>Fish Farming Expert: PSP Solutions bubble curtains</a:t>
            </a:r>
            <a:endParaRPr lang="en-US" sz="1200" dirty="0"/>
          </a:p>
          <a:p>
            <a:pPr indent="0" marL="0">
              <a:spcAft>
                <a:spcPts val="200"/>
              </a:spcAft>
              <a:buNone/>
            </a:pPr>
            <a:r>
              <a:rPr lang="en-US" sz="1200" dirty="0">
                <a:solidFill>
                  <a:schemeClr val="bg2"/>
                </a:solidFill>
              </a:rPr>
              <a:t>Politico (Aug 2025), NEI Magazine (Aug 2026): Gravelines shutdowns</a:t>
            </a:r>
            <a:endParaRPr lang="en-US" sz="1200" dirty="0"/>
          </a:p>
          <a:p>
            <a:pPr indent="0" marL="0">
              <a:spcAft>
                <a:spcPts val="200"/>
              </a:spcAft>
              <a:buNone/>
            </a:pPr>
            <a:r>
              <a:rPr lang="en-US" sz="1200" dirty="0">
                <a:solidFill>
                  <a:schemeClr val="bg2"/>
                </a:solidFill>
              </a:rPr>
              <a:t>Gulf News: Jellyfish choke Oman desalination plants</a:t>
            </a:r>
            <a:endParaRPr lang="en-US" sz="1200" dirty="0"/>
          </a:p>
          <a:p>
            <a:pPr indent="0" marL="0">
              <a:spcAft>
                <a:spcPts val="200"/>
              </a:spcAft>
              <a:buNone/>
            </a:pPr>
            <a:r>
              <a:rPr lang="en-US" sz="1200" dirty="0">
                <a:solidFill>
                  <a:schemeClr val="bg2"/>
                </a:solidFill>
              </a:rPr>
              <a:t>J. Mar. Biol. Assoc. UK: Crambionella orsini bloom, 2002-03</a:t>
            </a:r>
            <a:endParaRPr lang="en-US" sz="1200" dirty="0"/>
          </a:p>
          <a:p>
            <a:pPr indent="0" marL="0">
              <a:spcAft>
                <a:spcPts val="200"/>
              </a:spcAft>
              <a:buNone/>
            </a:pPr>
            <a:r>
              <a:rPr lang="en-US" sz="1200" dirty="0">
                <a:solidFill>
                  <a:schemeClr val="bg2"/>
                </a:solidFill>
              </a:rPr>
              <a:t>PAAET Kuwait: Preventing jellyfish attacks on power plants</a:t>
            </a:r>
            <a:endParaRPr lang="en-US" sz="1200" dirty="0"/>
          </a:p>
          <a:p>
            <a:pPr indent="0" marL="0">
              <a:spcAft>
                <a:spcPts val="200"/>
              </a:spcAft>
              <a:buNone/>
            </a:pPr>
            <a:r>
              <a:rPr lang="en-US" sz="1200" dirty="0">
                <a:solidFill>
                  <a:schemeClr val="bg2"/>
                </a:solidFill>
              </a:rPr>
              <a:t>Elastec; EcoCoast/Bolina: boom and debris-boom product data</a:t>
            </a:r>
            <a:endParaRPr lang="en-US" sz="1200" dirty="0"/>
          </a:p>
          <a:p>
            <a:pPr indent="0" marL="0">
              <a:spcAft>
                <a:spcPts val="200"/>
              </a:spcAft>
              <a:buNone/>
            </a:pPr>
            <a:r>
              <a:rPr lang="en-US" sz="1200" dirty="0">
                <a:solidFill>
                  <a:schemeClr val="bg2"/>
                </a:solidFill>
              </a:rPr>
              <a:t>US patent 5,695,300: adjustable-angle recovery boom</a:t>
            </a:r>
            <a:endParaRPr lang="en-US" sz="1200" dirty="0"/>
          </a:p>
          <a:p>
            <a:pPr indent="0" marL="0">
              <a:spcAft>
                <a:spcPts val="200"/>
              </a:spcAft>
              <a:buNone/>
            </a:pPr>
            <a:r>
              <a:rPr lang="en-US" sz="1200" dirty="0">
                <a:solidFill>
                  <a:schemeClr val="bg2"/>
                </a:solidFill>
              </a:rPr>
              <a:t>ENEC: ATP 2026 challenge statement (challengeon.atrc.ae)</a:t>
            </a:r>
            <a:endParaRPr lang="en-US" sz="1200" dirty="0"/>
          </a:p>
        </p:txBody>
      </p:sp>
      <p:sp>
        <p:nvSpPr>
          <p:cNvPr id="8" name="Text 6"/>
          <p:cNvSpPr txBox="1"/>
          <p:nvPr/>
        </p:nvSpPr>
        <p:spPr>
          <a:xfrm>
            <a:off x="548640" y="5440680"/>
            <a:ext cx="11064240" cy="365760"/>
          </a:xfrm>
          <a:prstGeom prst="rect">
            <a:avLst/>
          </a:prstGeom>
          <a:noFill/>
          <a:ln/>
        </p:spPr>
        <p:txBody>
          <a:bodyPr wrap="square" lIns="0" tIns="0" rIns="0" bIns="0" rtlCol="0" anchor="t"/>
          <a:lstStyle/>
          <a:p>
            <a:pPr indent="0" marL="0">
              <a:buNone/>
            </a:pPr>
            <a:r>
              <a:rPr lang="en-US" sz="1300" b="1" dirty="0">
                <a:solidFill>
                  <a:schemeClr val="accent3"/>
                </a:solidFill>
              </a:rPr>
              <a:t>Declaration  </a:t>
            </a:r>
            <a:pPr indent="0" marL="0">
              <a:buNone/>
            </a:pPr>
            <a:r>
              <a:rPr lang="en-US" sz="1300" dirty="0">
                <a:solidFill>
                  <a:schemeClr val="bg1"/>
                </a:solidFill>
              </a:rPr>
              <a:t>AI tools supported research and drafting. The team reviewed every claim and owns the proposal.</a:t>
            </a:r>
            <a:endParaRPr lang="en-US" sz="1300" dirty="0"/>
          </a:p>
        </p:txBody>
      </p:sp>
      <p:sp>
        <p:nvSpPr>
          <p:cNvPr id="9" name="Text 7"/>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200" dirty="0">
                <a:solidFill>
                  <a:schemeClr val="accent3"/>
                </a:solidFill>
              </a:rPr>
              <a:t>Team: Bashger Aljneibi, Keyal Doshi, Abdul Fattah Mohammed, Abdul Bari Mohammed</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ARLIN Ocean">
  <a:themeElements>
    <a:clrScheme name="MARLIN Ocean">
      <a:dk1>
        <a:srgbClr val="0B2A3C"/>
      </a:dk1>
      <a:lt1>
        <a:srgbClr val="FFFFFF"/>
      </a:lt1>
      <a:dk2>
        <a:srgbClr val="14506B"/>
      </a:dk2>
      <a:lt2>
        <a:srgbClr val="EAF4F6"/>
      </a:lt2>
      <a:accent1>
        <a:srgbClr val="0E7C86"/>
      </a:accent1>
      <a:accent2>
        <a:srgbClr val="C94A32"/>
      </a:accent2>
      <a:accent3>
        <a:srgbClr val="5CC8D7"/>
      </a:accent3>
      <a:accent4>
        <a:srgbClr val="F2B84B"/>
      </a:accent4>
      <a:accent5>
        <a:srgbClr val="3E6C85"/>
      </a:accent5>
      <a:accent6>
        <a:srgbClr val="8FA9B5"/>
      </a:accent6>
      <a:hlink>
        <a:srgbClr val="0E7C86"/>
      </a:hlink>
      <a:folHlink>
        <a:srgbClr val="3E6C85"/>
      </a:folHlink>
    </a:clrScheme>
    <a:fontScheme name="MARLIN Oce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MARLIN - ATP 2026 ENEC Challenge</dc:title>
  <dc:subject>PptxGenJS Presentation</dc:subject>
  <dc:creator>Bashger Aljneibi, Keyal Doshi, Abdul Fattah Mohammed, Abdul Bari Mohammed</dc:creator>
  <cp:lastModifiedBy>Bashger Aljneibi, Keyal Doshi, Abdul Fattah Mohammed, Abdul Bari Mohammed</cp:lastModifiedBy>
  <cp:revision>1</cp:revision>
  <dcterms:created xsi:type="dcterms:W3CDTF">2026-10-13T19:01:28Z</dcterms:created>
  <dcterms:modified xsi:type="dcterms:W3CDTF">2026-10-13T19:01:28Z</dcterms:modified>
</cp:coreProperties>
</file>